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6" r:id="rId18"/>
    <p:sldId id="273" r:id="rId19"/>
    <p:sldId id="274" r:id="rId20"/>
    <p:sldId id="277" r:id="rId21"/>
    <p:sldId id="278" r:id="rId22"/>
    <p:sldId id="275" r:id="rId23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B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60" dt="2026-08-27T18:13:13.078"/>
    <p1510:client id="{1848CB53-881D-8E76-BA52-727F777B4FB0}" v="197" dt="2026-08-26T08:10:32.2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1A99EC-C98A-4165-9962-EAA9CF2595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ED9213-BE92-452A-8211-9D36373FDA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37BDBD-43CE-4AC0-9B12-3B7B589F6C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B40505-FFFF-417B-A123-B55B3C7BD3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5922CF-5419-4FC5-A622-793D56C7A3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493387-0B1C-4F30-9268-6FE400BE5C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6F66C9-B16D-4139-9186-851A1E8C96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D68A1E-C262-47F7-B441-36876B92F2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21D7A5-9635-40DE-A927-28B092F2C5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70451E-FAA0-46A8-8542-CBFE8D42DE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4AF351-6503-4F39-B17F-1D6B3380EA0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1"/>
          <p:cNvSpPr/>
          <p:nvPr/>
        </p:nvSpPr>
        <p:spPr>
          <a:xfrm>
            <a:off x="594360" y="27432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594360" y="283320"/>
            <a:ext cx="18284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DEEP LEARNING • NLP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94360" y="749880"/>
            <a:ext cx="79549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Neural Machine Translation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94360" y="1298520"/>
            <a:ext cx="5943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Arabic ↔ English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612720" y="1755720"/>
            <a:ext cx="7863480" cy="29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778899"/>
                </a:solidFill>
                <a:effectLst/>
                <a:uFillTx/>
                <a:latin typeface="Aptos"/>
              </a:rPr>
              <a:t>Build a Seq2Seq LSTM neural machine translation system with Bahdanau attention.</a:t>
            </a:r>
            <a:endParaRPr lang="en-US" sz="1350" b="0" u="none" strike="noStrike">
              <a:solidFill>
                <a:srgbClr val="778899"/>
              </a:solidFill>
              <a:effectLst/>
              <a:uFillTx/>
              <a:latin typeface="Arial"/>
            </a:endParaRPr>
          </a:p>
        </p:txBody>
      </p:sp>
      <p:sp>
        <p:nvSpPr>
          <p:cNvPr id="66" name="Rounded Rectangle 6"/>
          <p:cNvSpPr/>
          <p:nvPr/>
        </p:nvSpPr>
        <p:spPr>
          <a:xfrm>
            <a:off x="640080" y="251460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841320" y="26791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GOAL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841320" y="29901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Arabic → English neural translation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4251960" y="251460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4453200" y="26791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DATA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453200" y="29901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100K+ parallel sentence pairs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12"/>
          <p:cNvSpPr/>
          <p:nvPr/>
        </p:nvSpPr>
        <p:spPr>
          <a:xfrm>
            <a:off x="7863840" y="251460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065080" y="26791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MODEL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8065080" y="29901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LSTM Encoder–Decoder + Attention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5"/>
          <p:cNvSpPr/>
          <p:nvPr/>
        </p:nvSpPr>
        <p:spPr>
          <a:xfrm>
            <a:off x="640080" y="397764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16"/>
          <p:cNvSpPr/>
          <p:nvPr/>
        </p:nvSpPr>
        <p:spPr>
          <a:xfrm>
            <a:off x="841320" y="4142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1BE4B"/>
                </a:solidFill>
                <a:effectLst/>
                <a:uFillTx/>
                <a:latin typeface="Aptos"/>
              </a:rPr>
              <a:t>EVALUATION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7"/>
          <p:cNvSpPr/>
          <p:nvPr/>
        </p:nvSpPr>
        <p:spPr>
          <a:xfrm>
            <a:off x="841320" y="445320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BLEU on held-out data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18"/>
          <p:cNvSpPr/>
          <p:nvPr/>
        </p:nvSpPr>
        <p:spPr>
          <a:xfrm>
            <a:off x="4251960" y="397764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9"/>
          <p:cNvSpPr/>
          <p:nvPr/>
        </p:nvSpPr>
        <p:spPr>
          <a:xfrm>
            <a:off x="4453200" y="4142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EF5C5C"/>
                </a:solidFill>
                <a:effectLst/>
                <a:uFillTx/>
                <a:latin typeface="Aptos"/>
              </a:rPr>
              <a:t>OUTPUT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0"/>
          <p:cNvSpPr/>
          <p:nvPr/>
        </p:nvSpPr>
        <p:spPr>
          <a:xfrm>
            <a:off x="4453200" y="445320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Translation + attention visualization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21"/>
          <p:cNvSpPr/>
          <p:nvPr/>
        </p:nvSpPr>
        <p:spPr>
          <a:xfrm>
            <a:off x="7863840" y="3977640"/>
            <a:ext cx="3337200" cy="1142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22"/>
          <p:cNvSpPr/>
          <p:nvPr/>
        </p:nvSpPr>
        <p:spPr>
          <a:xfrm>
            <a:off x="8065080" y="4142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TOOLS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8065080" y="4453200"/>
            <a:ext cx="2880000" cy="47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• PyTorch • NLTK • sacrebleu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• Streamlit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640080" y="550476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CORE IDEA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25"/>
          <p:cNvSpPr/>
          <p:nvPr/>
        </p:nvSpPr>
        <p:spPr>
          <a:xfrm>
            <a:off x="2188800" y="56196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2188800" y="5775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Arabic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7" name="Connector 27"/>
          <p:cNvCxnSpPr/>
          <p:nvPr/>
        </p:nvCxnSpPr>
        <p:spPr>
          <a:xfrm>
            <a:off x="3570120" y="5902920"/>
            <a:ext cx="256320" cy="3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88" name="Rounded Rectangle 28"/>
          <p:cNvSpPr/>
          <p:nvPr/>
        </p:nvSpPr>
        <p:spPr>
          <a:xfrm>
            <a:off x="3844440" y="56196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3844440" y="5775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Encoder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30"/>
          <p:cNvCxnSpPr/>
          <p:nvPr/>
        </p:nvCxnSpPr>
        <p:spPr>
          <a:xfrm>
            <a:off x="5261760" y="5902920"/>
            <a:ext cx="256320" cy="3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91" name="Rounded Rectangle 31"/>
          <p:cNvSpPr/>
          <p:nvPr/>
        </p:nvSpPr>
        <p:spPr>
          <a:xfrm>
            <a:off x="5536080" y="56196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32"/>
          <p:cNvSpPr/>
          <p:nvPr/>
        </p:nvSpPr>
        <p:spPr>
          <a:xfrm>
            <a:off x="5536080" y="5775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Attention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Connector 33"/>
          <p:cNvCxnSpPr/>
          <p:nvPr/>
        </p:nvCxnSpPr>
        <p:spPr>
          <a:xfrm>
            <a:off x="6953400" y="5902920"/>
            <a:ext cx="256320" cy="3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94" name="Rounded Rectangle 34"/>
          <p:cNvSpPr/>
          <p:nvPr/>
        </p:nvSpPr>
        <p:spPr>
          <a:xfrm>
            <a:off x="7227720" y="56196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35"/>
          <p:cNvSpPr/>
          <p:nvPr/>
        </p:nvSpPr>
        <p:spPr>
          <a:xfrm>
            <a:off x="7227720" y="5775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Decoder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36"/>
          <p:cNvCxnSpPr/>
          <p:nvPr/>
        </p:nvCxnSpPr>
        <p:spPr>
          <a:xfrm>
            <a:off x="8645040" y="5902920"/>
            <a:ext cx="256320" cy="3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97" name="Rounded Rectangle 37"/>
          <p:cNvSpPr/>
          <p:nvPr/>
        </p:nvSpPr>
        <p:spPr>
          <a:xfrm>
            <a:off x="8919360" y="5619600"/>
            <a:ext cx="1416960" cy="566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38"/>
          <p:cNvSpPr/>
          <p:nvPr/>
        </p:nvSpPr>
        <p:spPr>
          <a:xfrm>
            <a:off x="8919360" y="577512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English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9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7C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SECTION 02 • TECHNIQUES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Project workflow &amp; Seq2Seq architecture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12720" y="1170360"/>
            <a:ext cx="1060668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00FFFF"/>
                </a:solidFill>
                <a:effectLst/>
                <a:uFillTx/>
                <a:latin typeface="Aptos"/>
              </a:rPr>
              <a:t>The complete path from raw parallel data to an evaluated translation.</a:t>
            </a:r>
            <a:endParaRPr lang="en-US" sz="1250" b="0" u="none" strike="noStrike">
              <a:solidFill>
                <a:srgbClr val="00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IMPLEMENTATION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9"/>
          <p:cNvSpPr/>
          <p:nvPr/>
        </p:nvSpPr>
        <p:spPr>
          <a:xfrm>
            <a:off x="594360" y="1872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MODEL FLOW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30"/>
          <p:cNvSpPr/>
          <p:nvPr/>
        </p:nvSpPr>
        <p:spPr>
          <a:xfrm>
            <a:off x="59436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31"/>
          <p:cNvSpPr/>
          <p:nvPr/>
        </p:nvSpPr>
        <p:spPr>
          <a:xfrm>
            <a:off x="594360" y="259488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2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Arabic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sentence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Connector 32"/>
          <p:cNvCxnSpPr/>
          <p:nvPr/>
        </p:nvCxnSpPr>
        <p:spPr>
          <a:xfrm>
            <a:off x="1920240" y="2868840"/>
            <a:ext cx="320400" cy="360"/>
          </a:xfrm>
          <a:prstGeom prst="straightConnector1">
            <a:avLst/>
          </a:prstGeom>
          <a:ln w="22860">
            <a:solidFill>
              <a:srgbClr val="A6B4C5"/>
            </a:solidFill>
            <a:round/>
          </a:ln>
        </p:spPr>
      </p:cxnSp>
      <p:sp>
        <p:nvSpPr>
          <p:cNvPr id="108" name="Rounded Rectangle 33"/>
          <p:cNvSpPr/>
          <p:nvPr/>
        </p:nvSpPr>
        <p:spPr>
          <a:xfrm>
            <a:off x="224028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34"/>
          <p:cNvSpPr/>
          <p:nvPr/>
        </p:nvSpPr>
        <p:spPr>
          <a:xfrm>
            <a:off x="2240280" y="259488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2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Tokenization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+ IDs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Connector 35"/>
          <p:cNvCxnSpPr/>
          <p:nvPr/>
        </p:nvCxnSpPr>
        <p:spPr>
          <a:xfrm>
            <a:off x="3566160" y="2868840"/>
            <a:ext cx="320400" cy="360"/>
          </a:xfrm>
          <a:prstGeom prst="straightConnector1">
            <a:avLst/>
          </a:prstGeom>
          <a:ln w="22860">
            <a:solidFill>
              <a:srgbClr val="A6B4C5"/>
            </a:solidFill>
            <a:round/>
          </a:ln>
        </p:spPr>
      </p:cxnSp>
      <p:sp>
        <p:nvSpPr>
          <p:cNvPr id="111" name="Rounded Rectangle 36"/>
          <p:cNvSpPr/>
          <p:nvPr/>
        </p:nvSpPr>
        <p:spPr>
          <a:xfrm>
            <a:off x="388620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F1BE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37"/>
          <p:cNvSpPr/>
          <p:nvPr/>
        </p:nvSpPr>
        <p:spPr>
          <a:xfrm>
            <a:off x="3886200" y="2679547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1BE4B"/>
                </a:solidFill>
                <a:effectLst/>
                <a:uFillTx/>
                <a:latin typeface="Aptos"/>
              </a:rPr>
              <a:t>Embedding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Connector 38"/>
          <p:cNvCxnSpPr/>
          <p:nvPr/>
        </p:nvCxnSpPr>
        <p:spPr>
          <a:xfrm>
            <a:off x="5212080" y="2868840"/>
            <a:ext cx="320400" cy="360"/>
          </a:xfrm>
          <a:prstGeom prst="straightConnector1">
            <a:avLst/>
          </a:prstGeom>
          <a:ln w="22860">
            <a:solidFill>
              <a:srgbClr val="A6B4C5"/>
            </a:solidFill>
            <a:round/>
          </a:ln>
        </p:spPr>
      </p:cxnSp>
      <p:sp>
        <p:nvSpPr>
          <p:cNvPr id="114" name="Rounded Rectangle 39"/>
          <p:cNvSpPr/>
          <p:nvPr/>
        </p:nvSpPr>
        <p:spPr>
          <a:xfrm>
            <a:off x="553212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40"/>
          <p:cNvSpPr/>
          <p:nvPr/>
        </p:nvSpPr>
        <p:spPr>
          <a:xfrm>
            <a:off x="5532120" y="259488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2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LSTM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Encoder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6" name="Connector 41"/>
          <p:cNvCxnSpPr/>
          <p:nvPr/>
        </p:nvCxnSpPr>
        <p:spPr>
          <a:xfrm>
            <a:off x="6858000" y="2868840"/>
            <a:ext cx="320400" cy="360"/>
          </a:xfrm>
          <a:prstGeom prst="straightConnector1">
            <a:avLst/>
          </a:prstGeom>
          <a:ln w="22860">
            <a:solidFill>
              <a:srgbClr val="A6B4C5"/>
            </a:solidFill>
            <a:round/>
          </a:ln>
        </p:spPr>
      </p:cxnSp>
      <p:sp>
        <p:nvSpPr>
          <p:cNvPr id="117" name="Rounded Rectangle 42"/>
          <p:cNvSpPr/>
          <p:nvPr/>
        </p:nvSpPr>
        <p:spPr>
          <a:xfrm>
            <a:off x="717804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43"/>
          <p:cNvSpPr/>
          <p:nvPr/>
        </p:nvSpPr>
        <p:spPr>
          <a:xfrm>
            <a:off x="7178040" y="259488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2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Bahdanau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Attention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Connector 44"/>
          <p:cNvCxnSpPr/>
          <p:nvPr/>
        </p:nvCxnSpPr>
        <p:spPr>
          <a:xfrm>
            <a:off x="8503560" y="2868840"/>
            <a:ext cx="320400" cy="360"/>
          </a:xfrm>
          <a:prstGeom prst="straightConnector1">
            <a:avLst/>
          </a:prstGeom>
          <a:ln w="22860">
            <a:solidFill>
              <a:srgbClr val="A6B4C5"/>
            </a:solidFill>
            <a:round/>
          </a:ln>
        </p:spPr>
      </p:cxnSp>
      <p:sp>
        <p:nvSpPr>
          <p:cNvPr id="120" name="Rounded Rectangle 45"/>
          <p:cNvSpPr/>
          <p:nvPr/>
        </p:nvSpPr>
        <p:spPr>
          <a:xfrm>
            <a:off x="882396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46"/>
          <p:cNvSpPr/>
          <p:nvPr/>
        </p:nvSpPr>
        <p:spPr>
          <a:xfrm>
            <a:off x="8823960" y="259488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2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LSTM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Decoder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Connector 47"/>
          <p:cNvCxnSpPr/>
          <p:nvPr/>
        </p:nvCxnSpPr>
        <p:spPr>
          <a:xfrm>
            <a:off x="10149840" y="2868840"/>
            <a:ext cx="320400" cy="360"/>
          </a:xfrm>
          <a:prstGeom prst="straightConnector1">
            <a:avLst/>
          </a:prstGeom>
          <a:ln w="22860">
            <a:solidFill>
              <a:srgbClr val="A6B4C5"/>
            </a:solidFill>
            <a:round/>
          </a:ln>
        </p:spPr>
      </p:cxnSp>
      <p:sp>
        <p:nvSpPr>
          <p:cNvPr id="123" name="Rounded Rectangle 48"/>
          <p:cNvSpPr/>
          <p:nvPr/>
        </p:nvSpPr>
        <p:spPr>
          <a:xfrm>
            <a:off x="10469880" y="2302200"/>
            <a:ext cx="1325520" cy="1142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49"/>
          <p:cNvSpPr/>
          <p:nvPr/>
        </p:nvSpPr>
        <p:spPr>
          <a:xfrm>
            <a:off x="10469880" y="2594880"/>
            <a:ext cx="1325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2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English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output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50"/>
          <p:cNvSpPr/>
          <p:nvPr/>
        </p:nvSpPr>
        <p:spPr>
          <a:xfrm>
            <a:off x="594360" y="3856680"/>
            <a:ext cx="3337200" cy="6580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51"/>
          <p:cNvSpPr/>
          <p:nvPr/>
        </p:nvSpPr>
        <p:spPr>
          <a:xfrm>
            <a:off x="804600" y="40579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Encoder = reads + stores context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52"/>
          <p:cNvSpPr/>
          <p:nvPr/>
        </p:nvSpPr>
        <p:spPr>
          <a:xfrm>
            <a:off x="4434840" y="3856680"/>
            <a:ext cx="3337200" cy="6580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53"/>
          <p:cNvSpPr/>
          <p:nvPr/>
        </p:nvSpPr>
        <p:spPr>
          <a:xfrm>
            <a:off x="4645080" y="40579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Attention = selects useful source states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54"/>
          <p:cNvSpPr/>
          <p:nvPr/>
        </p:nvSpPr>
        <p:spPr>
          <a:xfrm>
            <a:off x="8275320" y="3856680"/>
            <a:ext cx="3337200" cy="6580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55"/>
          <p:cNvSpPr/>
          <p:nvPr/>
        </p:nvSpPr>
        <p:spPr>
          <a:xfrm>
            <a:off x="8485560" y="405792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Decoder = generates one token at a time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56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3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0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SECTION 02 • TECHNIQUES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1. Encoder: understand the source sentence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The encoder reads Arabic tokens sequentially and produces contextual hidden states.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ENCODER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640080" y="1965960"/>
            <a:ext cx="959760" cy="6397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6"/>
          <p:cNvSpPr/>
          <p:nvPr/>
        </p:nvSpPr>
        <p:spPr>
          <a:xfrm>
            <a:off x="640080" y="21398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أنا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Connector 7"/>
          <p:cNvCxnSpPr/>
          <p:nvPr/>
        </p:nvCxnSpPr>
        <p:spPr>
          <a:xfrm>
            <a:off x="1115280" y="2606040"/>
            <a:ext cx="360" cy="366120"/>
          </a:xfrm>
          <a:prstGeom prst="straightConnector1">
            <a:avLst/>
          </a:prstGeom>
          <a:ln w="22860">
            <a:solidFill>
              <a:srgbClr val="6C5CE7"/>
            </a:solidFill>
            <a:round/>
          </a:ln>
        </p:spPr>
      </p:cxnSp>
      <p:sp>
        <p:nvSpPr>
          <p:cNvPr id="139" name="Rounded Rectangle 8"/>
          <p:cNvSpPr/>
          <p:nvPr/>
        </p:nvSpPr>
        <p:spPr>
          <a:xfrm>
            <a:off x="1828800" y="1965960"/>
            <a:ext cx="959760" cy="6397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1828800" y="21398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أحب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Connector 10"/>
          <p:cNvCxnSpPr/>
          <p:nvPr/>
        </p:nvCxnSpPr>
        <p:spPr>
          <a:xfrm>
            <a:off x="2304000" y="2606040"/>
            <a:ext cx="360" cy="366120"/>
          </a:xfrm>
          <a:prstGeom prst="straightConnector1">
            <a:avLst/>
          </a:prstGeom>
          <a:ln w="22860">
            <a:solidFill>
              <a:srgbClr val="6C5CE7"/>
            </a:solidFill>
            <a:round/>
          </a:ln>
        </p:spPr>
      </p:cxnSp>
      <p:sp>
        <p:nvSpPr>
          <p:cNvPr id="142" name="Rounded Rectangle 11"/>
          <p:cNvSpPr/>
          <p:nvPr/>
        </p:nvSpPr>
        <p:spPr>
          <a:xfrm>
            <a:off x="3017520" y="1965960"/>
            <a:ext cx="959760" cy="6397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3017520" y="213984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التعلم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4" name="Connector 13"/>
          <p:cNvCxnSpPr/>
          <p:nvPr/>
        </p:nvCxnSpPr>
        <p:spPr>
          <a:xfrm>
            <a:off x="3492720" y="2606040"/>
            <a:ext cx="360" cy="366120"/>
          </a:xfrm>
          <a:prstGeom prst="straightConnector1">
            <a:avLst/>
          </a:prstGeom>
          <a:ln w="22860">
            <a:solidFill>
              <a:srgbClr val="6C5CE7"/>
            </a:solidFill>
            <a:round/>
          </a:ln>
        </p:spPr>
      </p:cxnSp>
      <p:sp>
        <p:nvSpPr>
          <p:cNvPr id="145" name="Rounded Rectangle 14"/>
          <p:cNvSpPr/>
          <p:nvPr/>
        </p:nvSpPr>
        <p:spPr>
          <a:xfrm>
            <a:off x="685800" y="2971800"/>
            <a:ext cx="1234080" cy="12340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15"/>
          <p:cNvSpPr/>
          <p:nvPr/>
        </p:nvSpPr>
        <p:spPr>
          <a:xfrm>
            <a:off x="685800" y="331020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LSTM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7" name="Connector 16"/>
          <p:cNvCxnSpPr/>
          <p:nvPr/>
        </p:nvCxnSpPr>
        <p:spPr>
          <a:xfrm>
            <a:off x="1920240" y="3593520"/>
            <a:ext cx="228960" cy="360"/>
          </a:xfrm>
          <a:prstGeom prst="straightConnector1">
            <a:avLst/>
          </a:prstGeom>
          <a:ln>
            <a:solidFill>
              <a:srgbClr val="A6B4C5"/>
            </a:solidFill>
            <a:round/>
          </a:ln>
        </p:spPr>
      </p:cxnSp>
      <p:sp>
        <p:nvSpPr>
          <p:cNvPr id="148" name="Rounded Rectangle 17"/>
          <p:cNvSpPr/>
          <p:nvPr/>
        </p:nvSpPr>
        <p:spPr>
          <a:xfrm>
            <a:off x="2148840" y="2971800"/>
            <a:ext cx="1234080" cy="12340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18"/>
          <p:cNvSpPr/>
          <p:nvPr/>
        </p:nvSpPr>
        <p:spPr>
          <a:xfrm>
            <a:off x="2148840" y="331020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LSTM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0" name="Connector 19"/>
          <p:cNvCxnSpPr/>
          <p:nvPr/>
        </p:nvCxnSpPr>
        <p:spPr>
          <a:xfrm>
            <a:off x="3383280" y="3593520"/>
            <a:ext cx="228960" cy="360"/>
          </a:xfrm>
          <a:prstGeom prst="straightConnector1">
            <a:avLst/>
          </a:prstGeom>
          <a:ln>
            <a:solidFill>
              <a:srgbClr val="A6B4C5"/>
            </a:solidFill>
            <a:round/>
          </a:ln>
        </p:spPr>
      </p:cxnSp>
      <p:sp>
        <p:nvSpPr>
          <p:cNvPr id="151" name="Rounded Rectangle 20"/>
          <p:cNvSpPr/>
          <p:nvPr/>
        </p:nvSpPr>
        <p:spPr>
          <a:xfrm>
            <a:off x="3611880" y="2971800"/>
            <a:ext cx="1234080" cy="12340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1"/>
          <p:cNvSpPr/>
          <p:nvPr/>
        </p:nvSpPr>
        <p:spPr>
          <a:xfrm>
            <a:off x="3611880" y="3310200"/>
            <a:ext cx="1234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LSTM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2"/>
          <p:cNvSpPr/>
          <p:nvPr/>
        </p:nvSpPr>
        <p:spPr>
          <a:xfrm>
            <a:off x="1005840" y="43434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h₁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3"/>
          <p:cNvSpPr/>
          <p:nvPr/>
        </p:nvSpPr>
        <p:spPr>
          <a:xfrm>
            <a:off x="2468880" y="43434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h₂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4"/>
          <p:cNvSpPr/>
          <p:nvPr/>
        </p:nvSpPr>
        <p:spPr>
          <a:xfrm>
            <a:off x="3931920" y="43434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h₃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25"/>
          <p:cNvSpPr/>
          <p:nvPr/>
        </p:nvSpPr>
        <p:spPr>
          <a:xfrm>
            <a:off x="5486400" y="1874520"/>
            <a:ext cx="5897520" cy="33372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26"/>
          <p:cNvSpPr/>
          <p:nvPr/>
        </p:nvSpPr>
        <p:spPr>
          <a:xfrm>
            <a:off x="5806440" y="214884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What the encoder gives us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7"/>
          <p:cNvSpPr/>
          <p:nvPr/>
        </p:nvSpPr>
        <p:spPr>
          <a:xfrm>
            <a:off x="5806440" y="2697480"/>
            <a:ext cx="507456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Each token becomes a dense embedding vector.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The LSTM updates its hidden state as it reads.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We keep the sequence of hidden states.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Attention can later inspect these states.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8"/>
          <p:cNvSpPr/>
          <p:nvPr/>
        </p:nvSpPr>
        <p:spPr>
          <a:xfrm>
            <a:off x="5818535" y="4518297"/>
            <a:ext cx="5074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Key idea: the encoder reads; it does not produce the English sentence.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9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6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8D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SECTION 02 • TECHNIQUES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2. Decoder: generate the target sentence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The decoder predicts one English token at a time until &lt;EOS&gt;.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DECODER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5"/>
          <p:cNvSpPr/>
          <p:nvPr/>
        </p:nvSpPr>
        <p:spPr>
          <a:xfrm>
            <a:off x="594360" y="182880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594360" y="20116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&lt;SOS&gt;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Connector 7"/>
          <p:cNvCxnSpPr/>
          <p:nvPr/>
        </p:nvCxnSpPr>
        <p:spPr>
          <a:xfrm>
            <a:off x="1737360" y="2157840"/>
            <a:ext cx="228960" cy="360"/>
          </a:xfrm>
          <a:prstGeom prst="straightConnector1">
            <a:avLst/>
          </a:prstGeom>
          <a:ln>
            <a:solidFill>
              <a:srgbClr val="A6B4C5"/>
            </a:solidFill>
            <a:round/>
          </a:ln>
        </p:spPr>
      </p:cxnSp>
      <p:sp>
        <p:nvSpPr>
          <p:cNvPr id="168" name="Rounded Rectangle 8"/>
          <p:cNvSpPr/>
          <p:nvPr/>
        </p:nvSpPr>
        <p:spPr>
          <a:xfrm>
            <a:off x="1965960" y="182880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9"/>
          <p:cNvSpPr/>
          <p:nvPr/>
        </p:nvSpPr>
        <p:spPr>
          <a:xfrm>
            <a:off x="1965960" y="20116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0" name="Connector 10"/>
          <p:cNvCxnSpPr/>
          <p:nvPr/>
        </p:nvCxnSpPr>
        <p:spPr>
          <a:xfrm>
            <a:off x="3108960" y="2157840"/>
            <a:ext cx="228960" cy="360"/>
          </a:xfrm>
          <a:prstGeom prst="straightConnector1">
            <a:avLst/>
          </a:prstGeom>
          <a:ln>
            <a:solidFill>
              <a:srgbClr val="A6B4C5"/>
            </a:solidFill>
            <a:round/>
          </a:ln>
        </p:spPr>
      </p:cxnSp>
      <p:sp>
        <p:nvSpPr>
          <p:cNvPr id="171" name="Rounded Rectangle 11"/>
          <p:cNvSpPr/>
          <p:nvPr/>
        </p:nvSpPr>
        <p:spPr>
          <a:xfrm>
            <a:off x="3337560" y="182880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12"/>
          <p:cNvSpPr/>
          <p:nvPr/>
        </p:nvSpPr>
        <p:spPr>
          <a:xfrm>
            <a:off x="3337560" y="20116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love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3" name="Connector 13"/>
          <p:cNvCxnSpPr/>
          <p:nvPr/>
        </p:nvCxnSpPr>
        <p:spPr>
          <a:xfrm>
            <a:off x="4480560" y="2157840"/>
            <a:ext cx="228960" cy="360"/>
          </a:xfrm>
          <a:prstGeom prst="straightConnector1">
            <a:avLst/>
          </a:prstGeom>
          <a:ln>
            <a:solidFill>
              <a:srgbClr val="A6B4C5"/>
            </a:solidFill>
            <a:round/>
          </a:ln>
        </p:spPr>
      </p:cxnSp>
      <p:sp>
        <p:nvSpPr>
          <p:cNvPr id="174" name="Rounded Rectangle 14"/>
          <p:cNvSpPr/>
          <p:nvPr/>
        </p:nvSpPr>
        <p:spPr>
          <a:xfrm>
            <a:off x="4709160" y="182880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5"/>
          <p:cNvSpPr/>
          <p:nvPr/>
        </p:nvSpPr>
        <p:spPr>
          <a:xfrm>
            <a:off x="4709160" y="20116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learning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Connector 16"/>
          <p:cNvCxnSpPr/>
          <p:nvPr/>
        </p:nvCxnSpPr>
        <p:spPr>
          <a:xfrm>
            <a:off x="5852160" y="2157840"/>
            <a:ext cx="228960" cy="360"/>
          </a:xfrm>
          <a:prstGeom prst="straightConnector1">
            <a:avLst/>
          </a:prstGeom>
          <a:ln>
            <a:solidFill>
              <a:srgbClr val="A6B4C5"/>
            </a:solidFill>
            <a:round/>
          </a:ln>
        </p:spPr>
      </p:cxnSp>
      <p:sp>
        <p:nvSpPr>
          <p:cNvPr id="177" name="Rounded Rectangle 17"/>
          <p:cNvSpPr/>
          <p:nvPr/>
        </p:nvSpPr>
        <p:spPr>
          <a:xfrm>
            <a:off x="6080760" y="182880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EF5C5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8"/>
          <p:cNvSpPr/>
          <p:nvPr/>
        </p:nvSpPr>
        <p:spPr>
          <a:xfrm>
            <a:off x="6080760" y="20116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&lt;EOS&gt;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9"/>
          <p:cNvSpPr/>
          <p:nvPr/>
        </p:nvSpPr>
        <p:spPr>
          <a:xfrm>
            <a:off x="1828800" y="2880360"/>
            <a:ext cx="5486040" cy="141696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20"/>
          <p:cNvSpPr/>
          <p:nvPr/>
        </p:nvSpPr>
        <p:spPr>
          <a:xfrm>
            <a:off x="2011680" y="3154680"/>
            <a:ext cx="1645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LSTM Decoder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21"/>
          <p:cNvSpPr/>
          <p:nvPr/>
        </p:nvSpPr>
        <p:spPr>
          <a:xfrm>
            <a:off x="3657600" y="2999160"/>
            <a:ext cx="3337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previous token + previous state + attention context → next-token probabilities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22"/>
          <p:cNvSpPr/>
          <p:nvPr/>
        </p:nvSpPr>
        <p:spPr>
          <a:xfrm>
            <a:off x="7726680" y="1737360"/>
            <a:ext cx="3565800" cy="28342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3"/>
          <p:cNvSpPr/>
          <p:nvPr/>
        </p:nvSpPr>
        <p:spPr>
          <a:xfrm>
            <a:off x="8046720" y="201168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Example at one decoding step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24"/>
          <p:cNvSpPr/>
          <p:nvPr/>
        </p:nvSpPr>
        <p:spPr>
          <a:xfrm>
            <a:off x="8046720" y="25603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love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25"/>
          <p:cNvSpPr/>
          <p:nvPr/>
        </p:nvSpPr>
        <p:spPr>
          <a:xfrm>
            <a:off x="8869680" y="2578680"/>
            <a:ext cx="1599840" cy="2192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26"/>
          <p:cNvSpPr/>
          <p:nvPr/>
        </p:nvSpPr>
        <p:spPr>
          <a:xfrm>
            <a:off x="8869680" y="2578680"/>
            <a:ext cx="1151640" cy="219240"/>
          </a:xfrm>
          <a:prstGeom prst="rect">
            <a:avLst/>
          </a:prstGeom>
          <a:solidFill>
            <a:srgbClr val="47CD89"/>
          </a:solidFill>
          <a:ln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7"/>
          <p:cNvSpPr/>
          <p:nvPr/>
        </p:nvSpPr>
        <p:spPr>
          <a:xfrm>
            <a:off x="10561320" y="256032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72%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8"/>
          <p:cNvSpPr/>
          <p:nvPr/>
        </p:nvSpPr>
        <p:spPr>
          <a:xfrm>
            <a:off x="8046720" y="299916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like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29"/>
          <p:cNvSpPr/>
          <p:nvPr/>
        </p:nvSpPr>
        <p:spPr>
          <a:xfrm>
            <a:off x="8869680" y="3017520"/>
            <a:ext cx="1599840" cy="2192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30"/>
          <p:cNvSpPr/>
          <p:nvPr/>
        </p:nvSpPr>
        <p:spPr>
          <a:xfrm>
            <a:off x="8869680" y="3017520"/>
            <a:ext cx="223560" cy="219240"/>
          </a:xfrm>
          <a:prstGeom prst="rect">
            <a:avLst/>
          </a:prstGeom>
          <a:solidFill>
            <a:srgbClr val="2BC4D5"/>
          </a:solidFill>
          <a:ln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31"/>
          <p:cNvSpPr/>
          <p:nvPr/>
        </p:nvSpPr>
        <p:spPr>
          <a:xfrm>
            <a:off x="10561320" y="299916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14%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2"/>
          <p:cNvSpPr/>
          <p:nvPr/>
        </p:nvSpPr>
        <p:spPr>
          <a:xfrm>
            <a:off x="8046720" y="34380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enjoy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ounded Rectangle 33"/>
          <p:cNvSpPr/>
          <p:nvPr/>
        </p:nvSpPr>
        <p:spPr>
          <a:xfrm>
            <a:off x="8869680" y="3456360"/>
            <a:ext cx="1599840" cy="2192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Rectangle 34"/>
          <p:cNvSpPr/>
          <p:nvPr/>
        </p:nvSpPr>
        <p:spPr>
          <a:xfrm>
            <a:off x="8869680" y="3456360"/>
            <a:ext cx="127800" cy="219240"/>
          </a:xfrm>
          <a:prstGeom prst="rect">
            <a:avLst/>
          </a:prstGeom>
          <a:solidFill>
            <a:srgbClr val="F1BE4B"/>
          </a:solidFill>
          <a:ln>
            <a:solidFill>
              <a:srgbClr val="F1BE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35"/>
          <p:cNvSpPr/>
          <p:nvPr/>
        </p:nvSpPr>
        <p:spPr>
          <a:xfrm>
            <a:off x="10561320" y="34380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8%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6"/>
          <p:cNvSpPr/>
          <p:nvPr/>
        </p:nvSpPr>
        <p:spPr>
          <a:xfrm>
            <a:off x="8046720" y="38772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other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37"/>
          <p:cNvSpPr/>
          <p:nvPr/>
        </p:nvSpPr>
        <p:spPr>
          <a:xfrm>
            <a:off x="8869680" y="3895200"/>
            <a:ext cx="1599840" cy="2192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Rectangle 38"/>
          <p:cNvSpPr/>
          <p:nvPr/>
        </p:nvSpPr>
        <p:spPr>
          <a:xfrm>
            <a:off x="8869680" y="3895200"/>
            <a:ext cx="95760" cy="219240"/>
          </a:xfrm>
          <a:prstGeom prst="rect">
            <a:avLst/>
          </a:prstGeom>
          <a:solidFill>
            <a:srgbClr val="A6B4C5"/>
          </a:solidFill>
          <a:ln>
            <a:solidFill>
              <a:srgbClr val="A6B4C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TextBox 39"/>
          <p:cNvSpPr/>
          <p:nvPr/>
        </p:nvSpPr>
        <p:spPr>
          <a:xfrm>
            <a:off x="10561320" y="3877200"/>
            <a:ext cx="4568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6%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0"/>
          <p:cNvSpPr/>
          <p:nvPr/>
        </p:nvSpPr>
        <p:spPr>
          <a:xfrm>
            <a:off x="731520" y="4983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1BE4B"/>
                </a:solidFill>
                <a:effectLst/>
                <a:uFillTx/>
                <a:latin typeface="Aptos"/>
              </a:rPr>
              <a:t>Teacher forcing (training)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41"/>
          <p:cNvSpPr/>
          <p:nvPr/>
        </p:nvSpPr>
        <p:spPr>
          <a:xfrm>
            <a:off x="2880360" y="4892040"/>
            <a:ext cx="7954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During training, the decoder can receive the ground-truth previous token instead of its own previous prediction.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42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20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7C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SECTION 02 • TECHNIQUES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3. Bahdanau Attention: focus on the right source words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Attention prevents the decoder from relying on one fixed sentence representation.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ATTENTION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5"/>
          <p:cNvSpPr/>
          <p:nvPr/>
        </p:nvSpPr>
        <p:spPr>
          <a:xfrm>
            <a:off x="685800" y="1828800"/>
            <a:ext cx="914040" cy="59400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685800" y="1993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أنا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09" name="Connector 7"/>
          <p:cNvCxnSpPr/>
          <p:nvPr/>
        </p:nvCxnSpPr>
        <p:spPr>
          <a:xfrm>
            <a:off x="1143000" y="2423160"/>
            <a:ext cx="360" cy="411840"/>
          </a:xfrm>
          <a:prstGeom prst="straightConnector1">
            <a:avLst/>
          </a:prstGeom>
          <a:ln w="22860">
            <a:solidFill>
              <a:srgbClr val="6C5CE7"/>
            </a:solidFill>
            <a:round/>
          </a:ln>
        </p:spPr>
      </p:cxnSp>
      <p:sp>
        <p:nvSpPr>
          <p:cNvPr id="210" name="Rounded Rectangle 8"/>
          <p:cNvSpPr/>
          <p:nvPr/>
        </p:nvSpPr>
        <p:spPr>
          <a:xfrm>
            <a:off x="1874520" y="1828800"/>
            <a:ext cx="914040" cy="59400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9"/>
          <p:cNvSpPr/>
          <p:nvPr/>
        </p:nvSpPr>
        <p:spPr>
          <a:xfrm>
            <a:off x="1874520" y="1993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أحب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Connector 10"/>
          <p:cNvCxnSpPr/>
          <p:nvPr/>
        </p:nvCxnSpPr>
        <p:spPr>
          <a:xfrm>
            <a:off x="2331720" y="2423160"/>
            <a:ext cx="360" cy="411840"/>
          </a:xfrm>
          <a:prstGeom prst="straightConnector1">
            <a:avLst/>
          </a:prstGeom>
          <a:ln w="22860">
            <a:solidFill>
              <a:srgbClr val="6C5CE7"/>
            </a:solidFill>
            <a:round/>
          </a:ln>
        </p:spPr>
      </p:cxnSp>
      <p:sp>
        <p:nvSpPr>
          <p:cNvPr id="213" name="Rounded Rectangle 11"/>
          <p:cNvSpPr/>
          <p:nvPr/>
        </p:nvSpPr>
        <p:spPr>
          <a:xfrm>
            <a:off x="3063240" y="1828800"/>
            <a:ext cx="914040" cy="59400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3063240" y="1993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التعلم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15" name="Connector 13"/>
          <p:cNvCxnSpPr/>
          <p:nvPr/>
        </p:nvCxnSpPr>
        <p:spPr>
          <a:xfrm>
            <a:off x="3520440" y="2423160"/>
            <a:ext cx="360" cy="411840"/>
          </a:xfrm>
          <a:prstGeom prst="straightConnector1">
            <a:avLst/>
          </a:prstGeom>
          <a:ln w="22860">
            <a:solidFill>
              <a:srgbClr val="6C5CE7"/>
            </a:solidFill>
            <a:round/>
          </a:ln>
        </p:spPr>
      </p:cxnSp>
      <p:sp>
        <p:nvSpPr>
          <p:cNvPr id="216" name="Rounded Rectangle 14"/>
          <p:cNvSpPr/>
          <p:nvPr/>
        </p:nvSpPr>
        <p:spPr>
          <a:xfrm>
            <a:off x="685800" y="2834640"/>
            <a:ext cx="914040" cy="4658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5"/>
          <p:cNvSpPr/>
          <p:nvPr/>
        </p:nvSpPr>
        <p:spPr>
          <a:xfrm>
            <a:off x="685800" y="288036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8%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16"/>
          <p:cNvSpPr/>
          <p:nvPr/>
        </p:nvSpPr>
        <p:spPr>
          <a:xfrm>
            <a:off x="1874520" y="2834640"/>
            <a:ext cx="914040" cy="6307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7"/>
          <p:cNvSpPr/>
          <p:nvPr/>
        </p:nvSpPr>
        <p:spPr>
          <a:xfrm>
            <a:off x="1874520" y="288036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17%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ounded Rectangle 18"/>
          <p:cNvSpPr/>
          <p:nvPr/>
        </p:nvSpPr>
        <p:spPr>
          <a:xfrm>
            <a:off x="3063240" y="2834640"/>
            <a:ext cx="914040" cy="169128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9"/>
          <p:cNvSpPr/>
          <p:nvPr/>
        </p:nvSpPr>
        <p:spPr>
          <a:xfrm>
            <a:off x="3063240" y="288036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75%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2" name="Connector 20"/>
          <p:cNvCxnSpPr/>
          <p:nvPr/>
        </p:nvCxnSpPr>
        <p:spPr>
          <a:xfrm>
            <a:off x="4251960" y="3611880"/>
            <a:ext cx="1371960" cy="360"/>
          </a:xfrm>
          <a:prstGeom prst="straightConnector1">
            <a:avLst/>
          </a:prstGeom>
          <a:ln w="31750">
            <a:solidFill>
              <a:srgbClr val="2BC4D5"/>
            </a:solidFill>
            <a:round/>
          </a:ln>
        </p:spPr>
      </p:cxnSp>
      <p:sp>
        <p:nvSpPr>
          <p:cNvPr id="223" name="Rounded Rectangle 21"/>
          <p:cNvSpPr/>
          <p:nvPr/>
        </p:nvSpPr>
        <p:spPr>
          <a:xfrm>
            <a:off x="5669280" y="2880360"/>
            <a:ext cx="1828440" cy="146268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22"/>
          <p:cNvSpPr/>
          <p:nvPr/>
        </p:nvSpPr>
        <p:spPr>
          <a:xfrm>
            <a:off x="5669280" y="3246120"/>
            <a:ext cx="18284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8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Context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vector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5" name="Connector 23"/>
          <p:cNvCxnSpPr/>
          <p:nvPr/>
        </p:nvCxnSpPr>
        <p:spPr>
          <a:xfrm>
            <a:off x="7543800" y="3611880"/>
            <a:ext cx="1189080" cy="360"/>
          </a:xfrm>
          <a:prstGeom prst="straightConnector1">
            <a:avLst/>
          </a:prstGeom>
          <a:ln w="31750">
            <a:solidFill>
              <a:srgbClr val="2BC4D5"/>
            </a:solidFill>
            <a:round/>
          </a:ln>
        </p:spPr>
      </p:cxnSp>
      <p:sp>
        <p:nvSpPr>
          <p:cNvPr id="226" name="Rounded Rectangle 24"/>
          <p:cNvSpPr/>
          <p:nvPr/>
        </p:nvSpPr>
        <p:spPr>
          <a:xfrm>
            <a:off x="8778240" y="2331720"/>
            <a:ext cx="2422800" cy="255996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5"/>
          <p:cNvSpPr/>
          <p:nvPr/>
        </p:nvSpPr>
        <p:spPr>
          <a:xfrm>
            <a:off x="9006840" y="2651760"/>
            <a:ext cx="1965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Decoder step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6"/>
          <p:cNvSpPr/>
          <p:nvPr/>
        </p:nvSpPr>
        <p:spPr>
          <a:xfrm>
            <a:off x="9006840" y="3154680"/>
            <a:ext cx="196560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Predict next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English token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6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using the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context vector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27"/>
          <p:cNvSpPr/>
          <p:nvPr/>
        </p:nvSpPr>
        <p:spPr>
          <a:xfrm>
            <a:off x="640080" y="5039844"/>
            <a:ext cx="10560960" cy="8683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28"/>
          <p:cNvSpPr/>
          <p:nvPr/>
        </p:nvSpPr>
        <p:spPr>
          <a:xfrm>
            <a:off x="904966" y="5283709"/>
            <a:ext cx="10012320" cy="2909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Example: when predicting “</a:t>
            </a:r>
            <a:r>
              <a:rPr lang="en-US" sz="1300" b="1" u="none" strike="noStrike">
                <a:solidFill>
                  <a:schemeClr val="accent6">
                    <a:lumMod val="76000"/>
                  </a:schemeClr>
                </a:solidFill>
                <a:effectLst/>
                <a:uFillTx/>
                <a:latin typeface="Aptos"/>
              </a:rPr>
              <a:t>learning</a:t>
            </a: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”, attention can assign the highest weight to </a:t>
            </a:r>
            <a:r>
              <a:rPr lang="hi-IN" sz="1300" b="1" u="none" strike="noStrike">
                <a:solidFill>
                  <a:schemeClr val="accent6">
                    <a:lumMod val="76000"/>
                  </a:schemeClr>
                </a:solidFill>
                <a:effectLst/>
                <a:uFillTx/>
                <a:latin typeface="Aptos"/>
              </a:rPr>
              <a:t>التعلم</a:t>
            </a: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9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0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IMPLEMENTATION • WRAP-UP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End-to-end implementation map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The whole project can be remembered as: Read → Align → Generate → Evaluate.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SUMMARY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Rounded Rectangle 5"/>
          <p:cNvSpPr/>
          <p:nvPr/>
        </p:nvSpPr>
        <p:spPr>
          <a:xfrm>
            <a:off x="640080" y="1737360"/>
            <a:ext cx="5074560" cy="6123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6"/>
          <p:cNvSpPr/>
          <p:nvPr/>
        </p:nvSpPr>
        <p:spPr>
          <a:xfrm>
            <a:off x="868680" y="189288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DATASET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7"/>
          <p:cNvSpPr/>
          <p:nvPr/>
        </p:nvSpPr>
        <p:spPr>
          <a:xfrm>
            <a:off x="2011680" y="184716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Arabic ↔ English pairs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9" name="Connector 8"/>
          <p:cNvCxnSpPr/>
          <p:nvPr/>
        </p:nvCxnSpPr>
        <p:spPr>
          <a:xfrm>
            <a:off x="3154680" y="2349720"/>
            <a:ext cx="360" cy="2199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240" name="Rounded Rectangle 9"/>
          <p:cNvSpPr/>
          <p:nvPr/>
        </p:nvSpPr>
        <p:spPr>
          <a:xfrm>
            <a:off x="640080" y="2505600"/>
            <a:ext cx="5074560" cy="6123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10"/>
          <p:cNvSpPr/>
          <p:nvPr/>
        </p:nvSpPr>
        <p:spPr>
          <a:xfrm>
            <a:off x="868680" y="26607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PREPROCESS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1"/>
          <p:cNvSpPr/>
          <p:nvPr/>
        </p:nvSpPr>
        <p:spPr>
          <a:xfrm>
            <a:off x="2011680" y="26150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clean → tokenize → PAD / &lt;SOS&gt; / &lt;EOS&gt;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3" name="Connector 12"/>
          <p:cNvCxnSpPr/>
          <p:nvPr/>
        </p:nvCxnSpPr>
        <p:spPr>
          <a:xfrm>
            <a:off x="3154680" y="3117960"/>
            <a:ext cx="360" cy="2199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244" name="Rounded Rectangle 13"/>
          <p:cNvSpPr/>
          <p:nvPr/>
        </p:nvSpPr>
        <p:spPr>
          <a:xfrm>
            <a:off x="640080" y="3273480"/>
            <a:ext cx="5074560" cy="6123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14"/>
          <p:cNvSpPr/>
          <p:nvPr/>
        </p:nvSpPr>
        <p:spPr>
          <a:xfrm>
            <a:off x="868680" y="342900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ENCODER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5"/>
          <p:cNvSpPr/>
          <p:nvPr/>
        </p:nvSpPr>
        <p:spPr>
          <a:xfrm>
            <a:off x="2011680" y="338328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Embedding → LSTM hidden states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47" name="Connector 16"/>
          <p:cNvCxnSpPr/>
          <p:nvPr/>
        </p:nvCxnSpPr>
        <p:spPr>
          <a:xfrm>
            <a:off x="3154680" y="3886200"/>
            <a:ext cx="360" cy="21960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248" name="Rounded Rectangle 17"/>
          <p:cNvSpPr/>
          <p:nvPr/>
        </p:nvSpPr>
        <p:spPr>
          <a:xfrm>
            <a:off x="640080" y="4041720"/>
            <a:ext cx="5074560" cy="6123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18"/>
          <p:cNvSpPr/>
          <p:nvPr/>
        </p:nvSpPr>
        <p:spPr>
          <a:xfrm>
            <a:off x="868680" y="419724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ATTENTION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9"/>
          <p:cNvSpPr/>
          <p:nvPr/>
        </p:nvSpPr>
        <p:spPr>
          <a:xfrm>
            <a:off x="2011680" y="415152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alignment scores → context vector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ctor 20"/>
          <p:cNvCxnSpPr/>
          <p:nvPr/>
        </p:nvCxnSpPr>
        <p:spPr>
          <a:xfrm>
            <a:off x="3154680" y="4654080"/>
            <a:ext cx="360" cy="21996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252" name="Rounded Rectangle 21"/>
          <p:cNvSpPr/>
          <p:nvPr/>
        </p:nvSpPr>
        <p:spPr>
          <a:xfrm>
            <a:off x="640080" y="4809600"/>
            <a:ext cx="5074560" cy="6123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2"/>
          <p:cNvSpPr/>
          <p:nvPr/>
        </p:nvSpPr>
        <p:spPr>
          <a:xfrm>
            <a:off x="868680" y="496512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DECODER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3"/>
          <p:cNvSpPr/>
          <p:nvPr/>
        </p:nvSpPr>
        <p:spPr>
          <a:xfrm>
            <a:off x="2011680" y="491940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LSTM → Dense / Softmax → next token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ctor 24"/>
          <p:cNvCxnSpPr/>
          <p:nvPr/>
        </p:nvCxnSpPr>
        <p:spPr>
          <a:xfrm>
            <a:off x="3154680" y="5422320"/>
            <a:ext cx="360" cy="219600"/>
          </a:xfrm>
          <a:prstGeom prst="straightConnector1">
            <a:avLst/>
          </a:prstGeom>
          <a:ln w="19050">
            <a:solidFill>
              <a:srgbClr val="A6B4C5"/>
            </a:solidFill>
            <a:round/>
          </a:ln>
        </p:spPr>
      </p:cxnSp>
      <p:sp>
        <p:nvSpPr>
          <p:cNvPr id="256" name="Rounded Rectangle 25"/>
          <p:cNvSpPr/>
          <p:nvPr/>
        </p:nvSpPr>
        <p:spPr>
          <a:xfrm>
            <a:off x="640080" y="5577840"/>
            <a:ext cx="5074560" cy="6123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F1BE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26"/>
          <p:cNvSpPr/>
          <p:nvPr/>
        </p:nvSpPr>
        <p:spPr>
          <a:xfrm>
            <a:off x="868680" y="5733360"/>
            <a:ext cx="1188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1" u="none" strike="noStrike">
                <a:solidFill>
                  <a:srgbClr val="F1BE4B"/>
                </a:solidFill>
                <a:effectLst/>
                <a:uFillTx/>
                <a:latin typeface="Aptos"/>
              </a:rPr>
              <a:t>METRICS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7"/>
          <p:cNvSpPr/>
          <p:nvPr/>
        </p:nvSpPr>
        <p:spPr>
          <a:xfrm>
            <a:off x="2011680" y="5687640"/>
            <a:ext cx="34286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BLEU + qualitative examples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28"/>
          <p:cNvSpPr/>
          <p:nvPr/>
        </p:nvSpPr>
        <p:spPr>
          <a:xfrm>
            <a:off x="6080760" y="1737360"/>
            <a:ext cx="5440320" cy="38858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29"/>
          <p:cNvSpPr/>
          <p:nvPr/>
        </p:nvSpPr>
        <p:spPr>
          <a:xfrm>
            <a:off x="6400800" y="205740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Final demo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30"/>
          <p:cNvSpPr/>
          <p:nvPr/>
        </p:nvSpPr>
        <p:spPr>
          <a:xfrm>
            <a:off x="6400800" y="260604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Input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31"/>
          <p:cNvSpPr/>
          <p:nvPr/>
        </p:nvSpPr>
        <p:spPr>
          <a:xfrm>
            <a:off x="7498080" y="260604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Arabic sentence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2"/>
          <p:cNvSpPr/>
          <p:nvPr/>
        </p:nvSpPr>
        <p:spPr>
          <a:xfrm>
            <a:off x="6400800" y="310896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Model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3"/>
          <p:cNvSpPr/>
          <p:nvPr/>
        </p:nvSpPr>
        <p:spPr>
          <a:xfrm>
            <a:off x="7498080" y="310896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Encoder + attention + decoder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34"/>
          <p:cNvSpPr/>
          <p:nvPr/>
        </p:nvSpPr>
        <p:spPr>
          <a:xfrm>
            <a:off x="6400800" y="361188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Output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5"/>
          <p:cNvSpPr/>
          <p:nvPr/>
        </p:nvSpPr>
        <p:spPr>
          <a:xfrm>
            <a:off x="7498080" y="361188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Generated English sentence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36"/>
          <p:cNvSpPr/>
          <p:nvPr/>
        </p:nvSpPr>
        <p:spPr>
          <a:xfrm>
            <a:off x="6400800" y="411480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Evidence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37"/>
          <p:cNvSpPr/>
          <p:nvPr/>
        </p:nvSpPr>
        <p:spPr>
          <a:xfrm>
            <a:off x="7498080" y="411480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BLEU on held-out data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38"/>
          <p:cNvSpPr/>
          <p:nvPr/>
        </p:nvSpPr>
        <p:spPr>
          <a:xfrm>
            <a:off x="6400800" y="4617720"/>
            <a:ext cx="1142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Interpretability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39"/>
          <p:cNvSpPr/>
          <p:nvPr/>
        </p:nvSpPr>
        <p:spPr>
          <a:xfrm>
            <a:off x="7498080" y="4617720"/>
            <a:ext cx="3565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Attention weights per source word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Rounded Rectangle 40"/>
          <p:cNvSpPr/>
          <p:nvPr/>
        </p:nvSpPr>
        <p:spPr>
          <a:xfrm>
            <a:off x="6080760" y="5806440"/>
            <a:ext cx="5440320" cy="56664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2" name="TextBox 41"/>
          <p:cNvSpPr/>
          <p:nvPr/>
        </p:nvSpPr>
        <p:spPr>
          <a:xfrm>
            <a:off x="6172200" y="5961960"/>
            <a:ext cx="5257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Read → Align → Generate → Evaluate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2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27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8D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RESULTS • DATASET 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Opus / Helsinki NLP — First Baseline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The first experiment exposed a problem: the model was not yet meeting the target BLEU score.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ERROR ANALYSIS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5"/>
          <p:cNvSpPr/>
          <p:nvPr/>
        </p:nvSpPr>
        <p:spPr>
          <a:xfrm>
            <a:off x="640080" y="1783080"/>
            <a:ext cx="3154320" cy="33372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6"/>
          <p:cNvSpPr/>
          <p:nvPr/>
        </p:nvSpPr>
        <p:spPr>
          <a:xfrm>
            <a:off x="914400" y="208476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BLEU SCORE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7"/>
          <p:cNvSpPr/>
          <p:nvPr/>
        </p:nvSpPr>
        <p:spPr>
          <a:xfrm>
            <a:off x="868680" y="2606040"/>
            <a:ext cx="26514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12.92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8"/>
          <p:cNvSpPr/>
          <p:nvPr/>
        </p:nvSpPr>
        <p:spPr>
          <a:xfrm>
            <a:off x="914400" y="3429000"/>
            <a:ext cx="2559960" cy="54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Target: 20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BLEU Score &lt; Target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9"/>
          <p:cNvSpPr/>
          <p:nvPr/>
        </p:nvSpPr>
        <p:spPr>
          <a:xfrm>
            <a:off x="914400" y="39776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Baseline result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0"/>
          <p:cNvSpPr/>
          <p:nvPr/>
        </p:nvSpPr>
        <p:spPr>
          <a:xfrm>
            <a:off x="914400" y="4343400"/>
            <a:ext cx="2514240" cy="28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300" b="1" u="none" strike="noStrike">
                <a:solidFill>
                  <a:srgbClr val="FFD700"/>
                </a:solidFill>
                <a:effectLst/>
                <a:uFillTx/>
                <a:latin typeface="Aptos"/>
              </a:rPr>
              <a:t>Why is the score low?</a:t>
            </a:r>
            <a:endParaRPr lang="en-US" sz="1300" b="0" u="none" strike="noStrike">
              <a:solidFill>
                <a:srgbClr val="FFD7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Picture 11" descr="image1.png"/>
          <p:cNvPicPr/>
          <p:nvPr/>
        </p:nvPicPr>
        <p:blipFill>
          <a:blip r:embed="rId2"/>
          <a:stretch/>
        </p:blipFill>
        <p:spPr>
          <a:xfrm>
            <a:off x="868680" y="2514600"/>
            <a:ext cx="2834280" cy="80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Rounded Rectangle 12"/>
          <p:cNvSpPr/>
          <p:nvPr/>
        </p:nvSpPr>
        <p:spPr>
          <a:xfrm>
            <a:off x="4114800" y="1692000"/>
            <a:ext cx="7406280" cy="33372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TextBox 13"/>
          <p:cNvSpPr/>
          <p:nvPr/>
        </p:nvSpPr>
        <p:spPr>
          <a:xfrm>
            <a:off x="4434840" y="2084760"/>
            <a:ext cx="58521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Aptos"/>
              </a:rPr>
              <a:t>Bad implementation?  Missing step? a Bug?</a:t>
            </a:r>
            <a:endParaRPr lang="en-US" sz="1500" b="0" u="none" strike="noStrike">
              <a:solidFill>
                <a:srgbClr val="FFD7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4"/>
          <p:cNvSpPr/>
          <p:nvPr/>
        </p:nvSpPr>
        <p:spPr>
          <a:xfrm>
            <a:off x="4434840" y="2606040"/>
            <a:ext cx="6491880" cy="167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A low BLEU score alone does not tell us what is failing.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We inspect the data and the model's actual predictions.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Outliers, very long sentences, and poor alignments can distort performance.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 Low Quality data can cause training to be poor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Rounded Rectangle 15"/>
          <p:cNvSpPr/>
          <p:nvPr/>
        </p:nvSpPr>
        <p:spPr>
          <a:xfrm>
            <a:off x="4434114" y="4343400"/>
            <a:ext cx="3840120" cy="31068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6"/>
          <p:cNvSpPr/>
          <p:nvPr/>
        </p:nvSpPr>
        <p:spPr>
          <a:xfrm>
            <a:off x="5486400" y="45892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7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90"/>
          <p:cNvSpPr txBox="1"/>
          <p:nvPr/>
        </p:nvSpPr>
        <p:spPr>
          <a:xfrm>
            <a:off x="5025572" y="4345846"/>
            <a:ext cx="3657600" cy="306323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1400" b="1" u="none" strike="noStrike">
                <a:solidFill>
                  <a:schemeClr val="accent4">
                    <a:lumMod val="49000"/>
                  </a:schemeClr>
                </a:solidFill>
                <a:effectLst/>
                <a:uFillTx/>
                <a:latin typeface="Aptos"/>
              </a:rPr>
              <a:t>Error analysis helps us decide </a:t>
            </a:r>
            <a:endParaRPr lang="en-US" sz="1400" b="1" u="none" strike="noStrike">
              <a:solidFill>
                <a:schemeClr val="accent4">
                  <a:lumMod val="49000"/>
                </a:schemeClr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292" name="Rectangle 29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7C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228600" y="228600"/>
            <a:ext cx="108810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BDB76B"/>
                </a:solidFill>
                <a:effectLst/>
                <a:uFillTx/>
                <a:latin typeface="Aptos"/>
              </a:rPr>
              <a:t>Error Analysis — What did I find?</a:t>
            </a:r>
            <a:endParaRPr lang="en-US" sz="2700" b="0" u="none" strike="noStrike">
              <a:solidFill>
                <a:srgbClr val="BDB76B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ERROR ANALYSIS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9"/>
          <p:cNvSpPr/>
          <p:nvPr/>
        </p:nvSpPr>
        <p:spPr>
          <a:xfrm>
            <a:off x="228600" y="4572000"/>
            <a:ext cx="11109600" cy="18288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10"/>
          <p:cNvSpPr/>
          <p:nvPr/>
        </p:nvSpPr>
        <p:spPr>
          <a:xfrm>
            <a:off x="8961480" y="36576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Length distribution snapshot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7" name="Picture 11" descr="image3.png"/>
          <p:cNvPicPr/>
          <p:nvPr/>
        </p:nvPicPr>
        <p:blipFill>
          <a:blip r:embed="rId2"/>
          <a:stretch/>
        </p:blipFill>
        <p:spPr>
          <a:xfrm>
            <a:off x="457200" y="4893480"/>
            <a:ext cx="6080400" cy="105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Rounded Rectangle 12"/>
          <p:cNvSpPr/>
          <p:nvPr/>
        </p:nvSpPr>
        <p:spPr>
          <a:xfrm>
            <a:off x="228600" y="914400"/>
            <a:ext cx="11887200" cy="34290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13"/>
          <p:cNvSpPr/>
          <p:nvPr/>
        </p:nvSpPr>
        <p:spPr>
          <a:xfrm>
            <a:off x="640440" y="1053360"/>
            <a:ext cx="2559960" cy="31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Data Set inspection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0" name="Picture 14" descr="image2.png"/>
          <p:cNvPicPr/>
          <p:nvPr/>
        </p:nvPicPr>
        <p:blipFill>
          <a:blip r:embed="rId3"/>
          <a:stretch/>
        </p:blipFill>
        <p:spPr>
          <a:xfrm>
            <a:off x="685800" y="1434960"/>
            <a:ext cx="7543800" cy="2679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TextBox 15"/>
          <p:cNvSpPr/>
          <p:nvPr/>
        </p:nvSpPr>
        <p:spPr>
          <a:xfrm>
            <a:off x="6858000" y="4780080"/>
            <a:ext cx="4114800" cy="132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The validation and test sets both showed also corruption..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For example: How can 99% of data be less than 51 words and the average is 94 words.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/>
            <a:r>
              <a:rPr lang="en-US" sz="1150" b="0" u="none" strike="noStrike" dirty="0">
                <a:solidFill>
                  <a:schemeClr val="accent6">
                    <a:lumMod val="76000"/>
                  </a:schemeClr>
                </a:solidFill>
                <a:effectLst/>
                <a:uFillTx/>
                <a:latin typeface="Aptos"/>
              </a:rPr>
              <a:t>One of the samples of the validation set was 171K words</a:t>
            </a:r>
            <a:r>
              <a:rPr lang="en-US" sz="1150" dirty="0">
                <a:solidFill>
                  <a:schemeClr val="accent6">
                    <a:lumMod val="76000"/>
                  </a:schemeClr>
                </a:solidFill>
                <a:latin typeface="Aptos"/>
              </a:rPr>
              <a:t> !!!!!</a:t>
            </a:r>
            <a:br>
              <a:rPr lang="en-US" sz="1150" dirty="0">
                <a:solidFill>
                  <a:schemeClr val="accent6">
                    <a:lumMod val="76000"/>
                  </a:schemeClr>
                </a:solidFill>
                <a:latin typeface="Aptos"/>
              </a:rPr>
            </a:br>
            <a:r>
              <a:rPr lang="en-US" sz="1150" dirty="0">
                <a:solidFill>
                  <a:schemeClr val="accent6">
                    <a:lumMod val="76000"/>
                  </a:schemeClr>
                </a:solidFill>
                <a:latin typeface="Aptos"/>
                <a:cs typeface="Arial"/>
              </a:rPr>
              <a:t>(LOW QUALITY</a:t>
            </a:r>
            <a:r>
              <a:rPr lang="en-US" sz="1150">
                <a:solidFill>
                  <a:schemeClr val="accent6">
                    <a:lumMod val="76000"/>
                  </a:schemeClr>
                </a:solidFill>
                <a:latin typeface="Aptos"/>
                <a:cs typeface="Arial"/>
              </a:rPr>
              <a:t> DATA SET !!)</a:t>
            </a:r>
            <a:endParaRPr lang="en-US" sz="1150" b="0" u="none" strike="noStrike">
              <a:solidFill>
                <a:schemeClr val="accent6">
                  <a:lumMod val="76000"/>
                </a:schemeClr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02" name="TextBox 16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44"/>
          <p:cNvSpPr/>
          <p:nvPr/>
        </p:nvSpPr>
        <p:spPr>
          <a:xfrm>
            <a:off x="8458200" y="1814040"/>
            <a:ext cx="3474360" cy="115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0FFFF"/>
                </a:solidFill>
                <a:effectLst/>
                <a:uFillTx/>
                <a:latin typeface="Aptos"/>
              </a:rPr>
              <a:t>By only showing a random sample of the data but it showed that many samples have corrupted translations which will surely lead to a bad training </a:t>
            </a:r>
            <a:endParaRPr lang="en-US" sz="1400" b="0" u="none" strike="noStrike">
              <a:solidFill>
                <a:srgbClr val="E0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Rectangle 30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0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RESULTS • DATASET 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94360" y="621720"/>
            <a:ext cx="10881000" cy="50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Tatoeba — high quality 30K Pairs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612720" y="1170360"/>
            <a:ext cx="1060668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8C00"/>
                </a:solidFill>
                <a:effectLst/>
                <a:uFillTx/>
                <a:latin typeface="Aptos"/>
              </a:rPr>
              <a:t>After the error analysis, the dataset was changed to a cleaner and a higher quality data set.</a:t>
            </a:r>
            <a:endParaRPr lang="en-US" sz="1250" b="1" u="none" strike="noStrike">
              <a:solidFill>
                <a:srgbClr val="FF8C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DATASET CHANGE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Rounded Rectangle 5"/>
          <p:cNvSpPr/>
          <p:nvPr/>
        </p:nvSpPr>
        <p:spPr>
          <a:xfrm>
            <a:off x="640080" y="1783080"/>
            <a:ext cx="3794400" cy="38858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6"/>
          <p:cNvSpPr/>
          <p:nvPr/>
        </p:nvSpPr>
        <p:spPr>
          <a:xfrm>
            <a:off x="914400" y="2084760"/>
            <a:ext cx="1142640" cy="310680"/>
          </a:xfrm>
          <a:prstGeom prst="roundRect">
            <a:avLst>
              <a:gd name="adj" fmla="val 16667"/>
            </a:avLst>
          </a:prstGeom>
          <a:solidFill>
            <a:srgbClr val="2BC4D5"/>
          </a:solidFill>
          <a:ln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914400" y="2094120"/>
            <a:ext cx="1142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DATASET 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8"/>
          <p:cNvSpPr/>
          <p:nvPr/>
        </p:nvSpPr>
        <p:spPr>
          <a:xfrm>
            <a:off x="914400" y="2606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Tatoeba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9"/>
          <p:cNvSpPr/>
          <p:nvPr/>
        </p:nvSpPr>
        <p:spPr>
          <a:xfrm>
            <a:off x="914400" y="3127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30K sentence pairs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0"/>
          <p:cNvSpPr/>
          <p:nvPr/>
        </p:nvSpPr>
        <p:spPr>
          <a:xfrm>
            <a:off x="914400" y="3703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Result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1"/>
          <p:cNvSpPr/>
          <p:nvPr/>
        </p:nvSpPr>
        <p:spPr>
          <a:xfrm>
            <a:off x="914400" y="40507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26.55 BLEU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12"/>
          <p:cNvSpPr/>
          <p:nvPr/>
        </p:nvSpPr>
        <p:spPr>
          <a:xfrm>
            <a:off x="914400" y="46908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Milestone achieved: &gt; 20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6" name="Picture 13" descr="image4.png"/>
          <p:cNvPicPr/>
          <p:nvPr/>
        </p:nvPicPr>
        <p:blipFill>
          <a:blip r:embed="rId2"/>
          <a:stretch/>
        </p:blipFill>
        <p:spPr>
          <a:xfrm>
            <a:off x="914400" y="5093280"/>
            <a:ext cx="301716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Rounded Rectangle 14"/>
          <p:cNvSpPr/>
          <p:nvPr/>
        </p:nvSpPr>
        <p:spPr>
          <a:xfrm>
            <a:off x="4754880" y="1783080"/>
            <a:ext cx="6811920" cy="38858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5"/>
          <p:cNvSpPr/>
          <p:nvPr/>
        </p:nvSpPr>
        <p:spPr>
          <a:xfrm>
            <a:off x="5074920" y="2103120"/>
            <a:ext cx="2697480" cy="34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Tatoeba Draw Back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16"/>
          <p:cNvSpPr/>
          <p:nvPr/>
        </p:nvSpPr>
        <p:spPr>
          <a:xfrm>
            <a:off x="5074920" y="2606040"/>
            <a:ext cx="5760360" cy="39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Better BLEU — but a narrow domain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17"/>
          <p:cNvSpPr/>
          <p:nvPr/>
        </p:nvSpPr>
        <p:spPr>
          <a:xfrm>
            <a:off x="5074920" y="3246120"/>
            <a:ext cx="5806080" cy="1310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Tatoeba consists of very short sentences.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The model therefore becomes specialized in translating short sentences.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This motivated testing a dataset with short, medium, and long sentences.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ounded Rectangle 18"/>
          <p:cNvSpPr/>
          <p:nvPr/>
        </p:nvSpPr>
        <p:spPr>
          <a:xfrm>
            <a:off x="1175400" y="5928120"/>
            <a:ext cx="2468520" cy="31068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19"/>
          <p:cNvSpPr/>
          <p:nvPr/>
        </p:nvSpPr>
        <p:spPr>
          <a:xfrm>
            <a:off x="1175400" y="5926160"/>
            <a:ext cx="246852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Beam Search &gt; Greedy</a:t>
            </a:r>
            <a:endParaRPr lang="en-US" sz="1400" b="1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23" name="TextBox 20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09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Rectangle 32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8D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RESULTS • DATASET 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Wikipedia — 86K Pairs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A larger corpus was used to test whether the model could handle short, medium, and long sentences.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DATASET CHANGE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Rounded Rectangle 5"/>
          <p:cNvSpPr/>
          <p:nvPr/>
        </p:nvSpPr>
        <p:spPr>
          <a:xfrm>
            <a:off x="640080" y="1783080"/>
            <a:ext cx="3794400" cy="416052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Rounded Rectangle 6"/>
          <p:cNvSpPr/>
          <p:nvPr/>
        </p:nvSpPr>
        <p:spPr>
          <a:xfrm>
            <a:off x="914400" y="2084760"/>
            <a:ext cx="1142640" cy="31068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7"/>
          <p:cNvSpPr/>
          <p:nvPr/>
        </p:nvSpPr>
        <p:spPr>
          <a:xfrm>
            <a:off x="914400" y="2094120"/>
            <a:ext cx="114264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DATASET 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8"/>
          <p:cNvSpPr/>
          <p:nvPr/>
        </p:nvSpPr>
        <p:spPr>
          <a:xfrm>
            <a:off x="914400" y="260604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Wikipedia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9"/>
          <p:cNvSpPr/>
          <p:nvPr/>
        </p:nvSpPr>
        <p:spPr>
          <a:xfrm>
            <a:off x="914400" y="31273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86K sentence pairs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10"/>
          <p:cNvSpPr/>
          <p:nvPr/>
        </p:nvSpPr>
        <p:spPr>
          <a:xfrm>
            <a:off x="914400" y="370332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Sentence range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11"/>
          <p:cNvSpPr/>
          <p:nvPr/>
        </p:nvSpPr>
        <p:spPr>
          <a:xfrm>
            <a:off x="914400" y="4050720"/>
            <a:ext cx="2925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5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1 → 35 words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2"/>
          <p:cNvSpPr/>
          <p:nvPr/>
        </p:nvSpPr>
        <p:spPr>
          <a:xfrm>
            <a:off x="914400" y="46450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Result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3"/>
          <p:cNvSpPr/>
          <p:nvPr/>
        </p:nvSpPr>
        <p:spPr>
          <a:xfrm>
            <a:off x="914400" y="495612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14"/>
          <p:cNvSpPr/>
          <p:nvPr/>
        </p:nvSpPr>
        <p:spPr>
          <a:xfrm>
            <a:off x="4754880" y="1783080"/>
            <a:ext cx="6811920" cy="393192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15"/>
          <p:cNvSpPr/>
          <p:nvPr/>
        </p:nvSpPr>
        <p:spPr>
          <a:xfrm>
            <a:off x="5074920" y="21031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Second milestone achieved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6"/>
          <p:cNvSpPr/>
          <p:nvPr/>
        </p:nvSpPr>
        <p:spPr>
          <a:xfrm>
            <a:off x="5074920" y="2633400"/>
            <a:ext cx="4297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25.63 BLEU  &gt;  20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7"/>
          <p:cNvSpPr/>
          <p:nvPr/>
        </p:nvSpPr>
        <p:spPr>
          <a:xfrm>
            <a:off x="5074920" y="3337560"/>
            <a:ext cx="5760360" cy="138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The dataset is substantially larger than Tatoeba.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It covers short, medium, and long sentences.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The BLEU score remains above the project target.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This gives a more meaningful test of general sentence-length handling.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1" name="Picture 18" descr="image5.png"/>
          <p:cNvPicPr/>
          <p:nvPr/>
        </p:nvPicPr>
        <p:blipFill>
          <a:blip r:embed="rId2"/>
          <a:stretch/>
        </p:blipFill>
        <p:spPr>
          <a:xfrm>
            <a:off x="914400" y="5029200"/>
            <a:ext cx="2971800" cy="46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Box 19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34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7C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RESULTS • INTERPRETABILITY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Attention Visualization — Does the model align words?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Bahdanau attention weights show which Arabic source tokens receive focus while generating each English token.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ATTENTION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5"/>
          <p:cNvSpPr/>
          <p:nvPr/>
        </p:nvSpPr>
        <p:spPr>
          <a:xfrm>
            <a:off x="502920" y="1691640"/>
            <a:ext cx="5531760" cy="425196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6"/>
          <p:cNvSpPr/>
          <p:nvPr/>
        </p:nvSpPr>
        <p:spPr>
          <a:xfrm>
            <a:off x="822960" y="19659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Example 01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7" descr="image6.png"/>
          <p:cNvPicPr/>
          <p:nvPr/>
        </p:nvPicPr>
        <p:blipFill>
          <a:blip r:embed="rId2"/>
          <a:stretch/>
        </p:blipFill>
        <p:spPr>
          <a:xfrm>
            <a:off x="731520" y="2359080"/>
            <a:ext cx="5074560" cy="293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Rounded Rectangle 8"/>
          <p:cNvSpPr/>
          <p:nvPr/>
        </p:nvSpPr>
        <p:spPr>
          <a:xfrm>
            <a:off x="6263640" y="1691640"/>
            <a:ext cx="5440320" cy="425196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9"/>
          <p:cNvSpPr/>
          <p:nvPr/>
        </p:nvSpPr>
        <p:spPr>
          <a:xfrm>
            <a:off x="6583680" y="19659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Example 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2" name="Picture 10" descr="image7.png"/>
          <p:cNvPicPr/>
          <p:nvPr/>
        </p:nvPicPr>
        <p:blipFill>
          <a:blip r:embed="rId3"/>
          <a:stretch/>
        </p:blipFill>
        <p:spPr>
          <a:xfrm>
            <a:off x="6492240" y="2359080"/>
            <a:ext cx="4983120" cy="287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Rounded Rectangle 11"/>
          <p:cNvSpPr/>
          <p:nvPr/>
        </p:nvSpPr>
        <p:spPr>
          <a:xfrm>
            <a:off x="3429000" y="6245280"/>
            <a:ext cx="5211720" cy="310680"/>
          </a:xfrm>
          <a:prstGeom prst="roundRect">
            <a:avLst>
              <a:gd name="adj" fmla="val 16667"/>
            </a:avLst>
          </a:prstGeom>
          <a:solidFill>
            <a:srgbClr val="6C5CE7"/>
          </a:solidFill>
          <a:ln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12"/>
          <p:cNvSpPr/>
          <p:nvPr/>
        </p:nvSpPr>
        <p:spPr>
          <a:xfrm>
            <a:off x="3429000" y="6254640"/>
            <a:ext cx="5211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BRIGHTER CELLS = HIGHER ATTENTION WEIGHT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3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355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30CF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RESULTS • DATASET COMPARISON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Tatoeba vs Wikipedia — Sentence Length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The two datasets differ substantially in sentence-length distribution.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DATA ANALYSIS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5"/>
          <p:cNvSpPr/>
          <p:nvPr/>
        </p:nvSpPr>
        <p:spPr>
          <a:xfrm>
            <a:off x="457200" y="1691640"/>
            <a:ext cx="11127960" cy="452592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6"/>
          <p:cNvSpPr/>
          <p:nvPr/>
        </p:nvSpPr>
        <p:spPr>
          <a:xfrm>
            <a:off x="914400" y="1828800"/>
            <a:ext cx="4846320" cy="30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Average sentence length by source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2" name="Picture 7" descr="image8.png"/>
          <p:cNvPicPr/>
          <p:nvPr/>
        </p:nvPicPr>
        <p:blipFill>
          <a:blip r:embed="rId2"/>
          <a:stretch/>
        </p:blipFill>
        <p:spPr>
          <a:xfrm rot="21588000">
            <a:off x="920160" y="2277000"/>
            <a:ext cx="6172200" cy="334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Rounded Rectangle 8"/>
          <p:cNvSpPr/>
          <p:nvPr/>
        </p:nvSpPr>
        <p:spPr>
          <a:xfrm>
            <a:off x="7543800" y="2469240"/>
            <a:ext cx="2514600" cy="14169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9"/>
          <p:cNvSpPr/>
          <p:nvPr/>
        </p:nvSpPr>
        <p:spPr>
          <a:xfrm>
            <a:off x="7940520" y="2670120"/>
            <a:ext cx="1279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TATOEBA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0"/>
          <p:cNvSpPr/>
          <p:nvPr/>
        </p:nvSpPr>
        <p:spPr>
          <a:xfrm>
            <a:off x="7772400" y="3017520"/>
            <a:ext cx="3306600" cy="5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Mostly short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sentences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Rounded Rectangle 11"/>
          <p:cNvSpPr/>
          <p:nvPr/>
        </p:nvSpPr>
        <p:spPr>
          <a:xfrm>
            <a:off x="7543800" y="4069080"/>
            <a:ext cx="2605680" cy="141696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12"/>
          <p:cNvSpPr/>
          <p:nvPr/>
        </p:nvSpPr>
        <p:spPr>
          <a:xfrm>
            <a:off x="7940520" y="4316040"/>
            <a:ext cx="15541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WIKIPEDIA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3"/>
          <p:cNvSpPr/>
          <p:nvPr/>
        </p:nvSpPr>
        <p:spPr>
          <a:xfrm>
            <a:off x="7772400" y="4680000"/>
            <a:ext cx="2377080" cy="57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en-US" sz="16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Broad range of all sentences types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Rounded Rectangle 14"/>
          <p:cNvSpPr/>
          <p:nvPr/>
        </p:nvSpPr>
        <p:spPr>
          <a:xfrm>
            <a:off x="868680" y="5806440"/>
            <a:ext cx="2880000" cy="310680"/>
          </a:xfrm>
          <a:prstGeom prst="roundRect">
            <a:avLst>
              <a:gd name="adj" fmla="val 16667"/>
            </a:avLst>
          </a:prstGeom>
          <a:solidFill>
            <a:srgbClr val="F1BE4B"/>
          </a:solidFill>
          <a:ln>
            <a:solidFill>
              <a:srgbClr val="F1BE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15"/>
          <p:cNvSpPr/>
          <p:nvPr/>
        </p:nvSpPr>
        <p:spPr>
          <a:xfrm>
            <a:off x="868680" y="5812510"/>
            <a:ext cx="2880000" cy="2524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WHY THE DATASET CHOICE MATTERS</a:t>
            </a:r>
            <a:endParaRPr lang="en-US" sz="1050" b="1" u="none" strike="noStrike">
              <a:solidFill>
                <a:srgbClr val="FFFFFF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71" name="TextBox 16"/>
          <p:cNvSpPr/>
          <p:nvPr/>
        </p:nvSpPr>
        <p:spPr>
          <a:xfrm>
            <a:off x="3886200" y="5806440"/>
            <a:ext cx="7177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A higher BLEU score must be interpreted together with the data distribution.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17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37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8D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RESULTS • DATASET FUSION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Why not both? — Tatoeba + Wikipedia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Combining the complementary datasets produced the strongest English-generation result so far.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FINAL ENGLISH MODEL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Rounded Rectangle 5"/>
          <p:cNvSpPr/>
          <p:nvPr/>
        </p:nvSpPr>
        <p:spPr>
          <a:xfrm>
            <a:off x="640080" y="1783080"/>
            <a:ext cx="3017160" cy="201132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2BC4D5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914400" y="20574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TATOEBA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7"/>
          <p:cNvSpPr/>
          <p:nvPr/>
        </p:nvSpPr>
        <p:spPr>
          <a:xfrm>
            <a:off x="914400" y="24872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30K pairs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8"/>
          <p:cNvSpPr/>
          <p:nvPr/>
        </p:nvSpPr>
        <p:spPr>
          <a:xfrm>
            <a:off x="914400" y="3063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Short-sentence strength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Rounded Rectangle 9"/>
          <p:cNvSpPr/>
          <p:nvPr/>
        </p:nvSpPr>
        <p:spPr>
          <a:xfrm>
            <a:off x="3977640" y="1783080"/>
            <a:ext cx="3017160" cy="201132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10"/>
          <p:cNvSpPr/>
          <p:nvPr/>
        </p:nvSpPr>
        <p:spPr>
          <a:xfrm>
            <a:off x="4251960" y="205740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WIKIPEDIA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11"/>
          <p:cNvSpPr/>
          <p:nvPr/>
        </p:nvSpPr>
        <p:spPr>
          <a:xfrm>
            <a:off x="4251960" y="248724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86K pairs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12"/>
          <p:cNvSpPr/>
          <p:nvPr/>
        </p:nvSpPr>
        <p:spPr>
          <a:xfrm>
            <a:off x="4251960" y="3063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Broader sentence lengths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3"/>
          <p:cNvSpPr/>
          <p:nvPr/>
        </p:nvSpPr>
        <p:spPr>
          <a:xfrm>
            <a:off x="7178040" y="233172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+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Rounded Rectangle 14"/>
          <p:cNvSpPr/>
          <p:nvPr/>
        </p:nvSpPr>
        <p:spPr>
          <a:xfrm>
            <a:off x="7818120" y="1783080"/>
            <a:ext cx="3611520" cy="20113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15"/>
          <p:cNvSpPr/>
          <p:nvPr/>
        </p:nvSpPr>
        <p:spPr>
          <a:xfrm>
            <a:off x="8138160" y="20574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COMBINED MODEL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16"/>
          <p:cNvSpPr/>
          <p:nvPr/>
        </p:nvSpPr>
        <p:spPr>
          <a:xfrm>
            <a:off x="8138160" y="2487240"/>
            <a:ext cx="2742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27.48 BLEU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17"/>
          <p:cNvSpPr/>
          <p:nvPr/>
        </p:nvSpPr>
        <p:spPr>
          <a:xfrm>
            <a:off x="8138160" y="309060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Beam search • width = 5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18"/>
          <p:cNvSpPr/>
          <p:nvPr/>
        </p:nvSpPr>
        <p:spPr>
          <a:xfrm>
            <a:off x="640080" y="4160520"/>
            <a:ext cx="5486040" cy="15084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19"/>
          <p:cNvSpPr/>
          <p:nvPr/>
        </p:nvSpPr>
        <p:spPr>
          <a:xfrm>
            <a:off x="685800" y="4343400"/>
            <a:ext cx="32004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Evaluation result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2" name="Picture 20" descr="image9.png"/>
          <p:cNvPicPr/>
          <p:nvPr/>
        </p:nvPicPr>
        <p:blipFill>
          <a:blip r:embed="rId2"/>
          <a:stretch/>
        </p:blipFill>
        <p:spPr>
          <a:xfrm>
            <a:off x="1143000" y="4800600"/>
            <a:ext cx="4205880" cy="6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Rounded Rectangle 21"/>
          <p:cNvSpPr/>
          <p:nvPr/>
        </p:nvSpPr>
        <p:spPr>
          <a:xfrm>
            <a:off x="6400800" y="4160520"/>
            <a:ext cx="5028840" cy="150840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TextBox 22"/>
          <p:cNvSpPr/>
          <p:nvPr/>
        </p:nvSpPr>
        <p:spPr>
          <a:xfrm>
            <a:off x="6675120" y="4343400"/>
            <a:ext cx="224028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Why better results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23"/>
          <p:cNvSpPr/>
          <p:nvPr/>
        </p:nvSpPr>
        <p:spPr>
          <a:xfrm>
            <a:off x="6675120" y="4728600"/>
            <a:ext cx="4526280" cy="78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Short-sentence coverage from Tatoeba.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Broader length coverage from Wikipedia.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•  Combined model improves English BLEU to 27.48.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Rounded Rectangle 24"/>
          <p:cNvSpPr/>
          <p:nvPr/>
        </p:nvSpPr>
        <p:spPr>
          <a:xfrm>
            <a:off x="4480560" y="6090120"/>
            <a:ext cx="3245760" cy="310680"/>
          </a:xfrm>
          <a:prstGeom prst="roundRect">
            <a:avLst>
              <a:gd name="adj" fmla="val 16667"/>
            </a:avLst>
          </a:prstGeom>
          <a:solidFill>
            <a:srgbClr val="47CD89"/>
          </a:solidFill>
          <a:ln>
            <a:solidFill>
              <a:srgbClr val="47CD8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25"/>
          <p:cNvSpPr/>
          <p:nvPr/>
        </p:nvSpPr>
        <p:spPr>
          <a:xfrm>
            <a:off x="4480560" y="6069620"/>
            <a:ext cx="32457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7030A0"/>
                </a:solidFill>
                <a:effectLst/>
                <a:uFillTx/>
                <a:latin typeface="Aptos"/>
              </a:rPr>
              <a:t>BEST ENGLISH BLEU SO FAR</a:t>
            </a:r>
            <a:endParaRPr lang="en-US" sz="1400" b="0" u="none" strike="noStrike">
              <a:solidFill>
                <a:srgbClr val="7030A0"/>
              </a:solidFill>
              <a:effectLst/>
              <a:uFillTx/>
              <a:latin typeface="Arial"/>
              <a:cs typeface="Arial"/>
            </a:endParaRPr>
          </a:p>
        </p:txBody>
      </p:sp>
      <p:sp>
        <p:nvSpPr>
          <p:cNvPr id="398" name="TextBox 26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398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7C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6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045" y="844475"/>
            <a:ext cx="2743200" cy="400110"/>
          </a:xfrm>
          <a:prstGeom prst="rect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000" b="1">
                <a:solidFill>
                  <a:schemeClr val="accent1">
                    <a:lumMod val="76000"/>
                  </a:schemeClr>
                </a:solidFill>
                <a:latin typeface="Aptos"/>
              </a:rPr>
              <a:t>PROJECT EXTENSION</a:t>
            </a:r>
            <a:endParaRPr lang="en-US" sz="2000" b="1">
              <a:solidFill>
                <a:schemeClr val="accent1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8046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5F7FA"/>
                </a:solidFill>
                <a:latin typeface="Aptos"/>
              </a:rPr>
              <a:t>WHAT IF WE GO
ONE STEP FURTHER?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632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1B0C2"/>
                </a:solidFill>
                <a:latin typeface="Aptos"/>
              </a:rPr>
              <a:t>The original project focuses on Arabic → English.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47872"/>
            <a:ext cx="7772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I extended it to support the reverse direction too.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572000"/>
            <a:ext cx="10789920" cy="1005840"/>
          </a:xfrm>
          <a:prstGeom prst="roundRect">
            <a:avLst/>
          </a:prstGeom>
          <a:solidFill>
            <a:srgbClr val="1C2530"/>
          </a:solidFill>
          <a:ln w="11430">
            <a:solidFill>
              <a:srgbClr val="7C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8463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8DC8F"/>
                </a:solidFill>
                <a:latin typeface="Aptos"/>
              </a:rPr>
              <a:t>ARABIC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681728"/>
            <a:ext cx="10058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7C68FF"/>
                </a:solidFill>
                <a:latin typeface="Aptos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8463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0CFDC"/>
                </a:solidFill>
                <a:latin typeface="Aptos"/>
              </a:rPr>
              <a:t>ENGLISH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809744"/>
            <a:ext cx="4206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F5F7FA"/>
                </a:solidFill>
                <a:latin typeface="Aptos"/>
              </a:rPr>
              <a:t>BIDIRECTIONAL TRANSLATOR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1B0C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0CFDC"/>
                </a:solidFill>
                <a:latin typeface="Aptos"/>
              </a:rPr>
              <a:t>PROJECT EXTENSION • EXTRA MILE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58952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Aptos"/>
              </a:rPr>
              <a:t>BI-DIRECTIONAL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1B0C2"/>
                </a:solidFill>
                <a:latin typeface="Aptos"/>
              </a:rPr>
              <a:t>Beyond the original Arabic → English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0972800" cy="1051560"/>
          </a:xfrm>
          <a:prstGeom prst="roundRect">
            <a:avLst/>
          </a:prstGeom>
          <a:solidFill>
            <a:srgbClr val="1C2530"/>
          </a:solidFill>
          <a:ln w="11430">
            <a:solidFill>
              <a:srgbClr val="7C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139696"/>
            <a:ext cx="8046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Aptos"/>
              </a:rPr>
              <a:t>I extended the system to translate in BOTH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21762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0CFDC"/>
                </a:solidFill>
                <a:latin typeface="Aptos"/>
              </a:rPr>
              <a:t>A project extension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46120"/>
            <a:ext cx="10972800" cy="1417320"/>
          </a:xfrm>
          <a:prstGeom prst="roundRect">
            <a:avLst/>
          </a:prstGeom>
          <a:solidFill>
            <a:srgbClr val="161D26"/>
          </a:solidFill>
          <a:ln w="11430">
            <a:solidFill>
              <a:srgbClr val="364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8DC8F"/>
                </a:solidFill>
                <a:latin typeface="Aptos"/>
              </a:rPr>
              <a:t>ARABIC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349300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8DC8F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FDC"/>
                </a:solidFill>
                <a:latin typeface="Aptos"/>
              </a:rPr>
              <a:t>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9000"/>
            <a:ext cx="914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7C68FF"/>
                </a:solidFill>
                <a:latin typeface="Aptos"/>
              </a:rPr>
              <a:t>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FDC"/>
                </a:solidFill>
                <a:latin typeface="Aptos"/>
              </a:rPr>
              <a:t>ENGLISH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49300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0CFDC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844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8DC8F"/>
                </a:solidFill>
                <a:latin typeface="Aptos"/>
              </a:rPr>
              <a:t>ARABIC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1B0C2"/>
                </a:solidFill>
                <a:latin typeface="Aptos"/>
              </a:rPr>
              <a:t>Original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41648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7C68FF"/>
                </a:solidFill>
                <a:latin typeface="Aptos"/>
              </a:rPr>
              <a:t>NEW CAPABILITY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983480"/>
            <a:ext cx="3657600" cy="1051560"/>
          </a:xfrm>
          <a:prstGeom prst="roundRect">
            <a:avLst/>
          </a:prstGeom>
          <a:solidFill>
            <a:srgbClr val="161D26"/>
          </a:solidFill>
          <a:ln w="11430">
            <a:solidFill>
              <a:srgbClr val="48D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239512"/>
            <a:ext cx="1920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8DC8F"/>
                </a:solidFill>
                <a:latin typeface="Aptos"/>
              </a:rPr>
              <a:t>21.16 BLEU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32180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1">
                <a:solidFill>
                  <a:srgbClr val="F5F7FA"/>
                </a:solidFill>
                <a:latin typeface="Aptos"/>
              </a:rPr>
              <a:t>English → Arabic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983480"/>
            <a:ext cx="3246120" cy="1051560"/>
          </a:xfrm>
          <a:prstGeom prst="roundRect">
            <a:avLst/>
          </a:prstGeom>
          <a:solidFill>
            <a:srgbClr val="161D26"/>
          </a:solidFill>
          <a:ln w="11430">
            <a:solidFill>
              <a:srgbClr val="30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5239512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0CFDC"/>
                </a:solidFill>
                <a:latin typeface="Aptos"/>
              </a:rPr>
              <a:t>TARGET &gt; 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59612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Aptos"/>
              </a:rPr>
              <a:t>✓ MILESTONE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79" y="4983480"/>
            <a:ext cx="3611880" cy="1051560"/>
          </a:xfrm>
          <a:prstGeom prst="roundRect">
            <a:avLst/>
          </a:prstGeom>
          <a:solidFill>
            <a:srgbClr val="1C2530"/>
          </a:solidFill>
          <a:ln w="11430">
            <a:solidFill>
              <a:srgbClr val="7C6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5212080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C68FF"/>
                </a:solidFill>
                <a:latin typeface="Apto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48640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5F7FA"/>
                </a:solidFill>
                <a:latin typeface="Aptos"/>
              </a:rPr>
              <a:t>The model is now a
full Arabic ↔ English translator.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1B0C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TextBox 1"/>
          <p:cNvSpPr/>
          <p:nvPr/>
        </p:nvSpPr>
        <p:spPr>
          <a:xfrm>
            <a:off x="594360" y="2743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7C68FF"/>
                </a:solidFill>
                <a:effectLst/>
                <a:uFillTx/>
                <a:latin typeface="Aptos"/>
              </a:rPr>
              <a:t>PROJECT DEMO • DEPLOYMENT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Box 2"/>
          <p:cNvSpPr/>
          <p:nvPr/>
        </p:nvSpPr>
        <p:spPr>
          <a:xfrm>
            <a:off x="594360" y="621720"/>
            <a:ext cx="10881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Live Deployment — Automatic Language Detection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3"/>
          <p:cNvSpPr/>
          <p:nvPr/>
        </p:nvSpPr>
        <p:spPr>
          <a:xfrm>
            <a:off x="612720" y="117036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6B4C5"/>
                </a:solidFill>
                <a:effectLst/>
                <a:uFillTx/>
                <a:latin typeface="Aptos"/>
              </a:rPr>
              <a:t>A simple interface accepts either language, detects the input direction, and routes it to the matching model.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4"/>
          <p:cNvSpPr/>
          <p:nvPr/>
        </p:nvSpPr>
        <p:spPr>
          <a:xfrm>
            <a:off x="9875520" y="27432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6C5CE7"/>
                </a:solidFill>
                <a:effectLst/>
                <a:uFillTx/>
                <a:latin typeface="Aptos"/>
              </a:rPr>
              <a:t>FINAL DEMO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Rounded Rectangle 5"/>
          <p:cNvSpPr/>
          <p:nvPr/>
        </p:nvSpPr>
        <p:spPr>
          <a:xfrm>
            <a:off x="502920" y="1737360"/>
            <a:ext cx="5531760" cy="3977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6"/>
          <p:cNvSpPr/>
          <p:nvPr/>
        </p:nvSpPr>
        <p:spPr>
          <a:xfrm>
            <a:off x="822960" y="1993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BC4D5"/>
                </a:solidFill>
                <a:effectLst/>
                <a:uFillTx/>
                <a:latin typeface="Aptos"/>
              </a:rPr>
              <a:t>English → Arabic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8" name="Picture 7" descr="image11.png"/>
          <p:cNvPicPr/>
          <p:nvPr/>
        </p:nvPicPr>
        <p:blipFill>
          <a:blip r:embed="rId2"/>
          <a:stretch/>
        </p:blipFill>
        <p:spPr>
          <a:xfrm>
            <a:off x="731520" y="2423160"/>
            <a:ext cx="5074560" cy="2724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Rounded Rectangle 8"/>
          <p:cNvSpPr/>
          <p:nvPr/>
        </p:nvSpPr>
        <p:spPr>
          <a:xfrm>
            <a:off x="6172200" y="1737360"/>
            <a:ext cx="5531760" cy="3977640"/>
          </a:xfrm>
          <a:prstGeom prst="roundRect">
            <a:avLst>
              <a:gd name="adj" fmla="val 16667"/>
            </a:avLst>
          </a:prstGeom>
          <a:solidFill>
            <a:srgbClr val="181F28"/>
          </a:solidFill>
          <a:ln w="10160">
            <a:solidFill>
              <a:srgbClr val="374151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9"/>
          <p:cNvSpPr/>
          <p:nvPr/>
        </p:nvSpPr>
        <p:spPr>
          <a:xfrm>
            <a:off x="6492240" y="199332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47CD89"/>
                </a:solidFill>
                <a:effectLst/>
                <a:uFillTx/>
                <a:latin typeface="Aptos"/>
              </a:rPr>
              <a:t>Arabic → English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1" name="Picture 10" descr="image12.png"/>
          <p:cNvPicPr/>
          <p:nvPr/>
        </p:nvPicPr>
        <p:blipFill>
          <a:blip r:embed="rId3"/>
          <a:stretch/>
        </p:blipFill>
        <p:spPr>
          <a:xfrm>
            <a:off x="6400800" y="2423160"/>
            <a:ext cx="5074560" cy="268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Rounded Rectangle 11"/>
          <p:cNvSpPr/>
          <p:nvPr/>
        </p:nvSpPr>
        <p:spPr>
          <a:xfrm>
            <a:off x="2149200" y="5989680"/>
            <a:ext cx="7909200" cy="639720"/>
          </a:xfrm>
          <a:prstGeom prst="roundRect">
            <a:avLst>
              <a:gd name="adj" fmla="val 16667"/>
            </a:avLst>
          </a:prstGeom>
          <a:solidFill>
            <a:srgbClr val="1E2732"/>
          </a:solidFill>
          <a:ln w="10160">
            <a:solidFill>
              <a:srgbClr val="6C5CE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12"/>
          <p:cNvSpPr/>
          <p:nvPr/>
        </p:nvSpPr>
        <p:spPr>
          <a:xfrm>
            <a:off x="2295720" y="6166440"/>
            <a:ext cx="7543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F1F5F9"/>
                </a:solidFill>
                <a:effectLst/>
                <a:uFillTx/>
                <a:latin typeface="Aptos"/>
              </a:rPr>
              <a:t>Input → Detect language → Route to model → Translate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13"/>
          <p:cNvSpPr/>
          <p:nvPr/>
        </p:nvSpPr>
        <p:spPr>
          <a:xfrm>
            <a:off x="11201400" y="6446520"/>
            <a:ext cx="411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A1B0C2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Rectangle 434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48D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>
          <a:xfrm>
            <a:off x="322729" y="-857114"/>
            <a:ext cx="8229240" cy="1142640"/>
          </a:xfrm>
        </p:spPr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/>
          </p:nvPr>
        </p:nvSpPr>
        <p:spPr>
          <a:xfrm>
            <a:off x="1947582" y="-1260526"/>
            <a:ext cx="8229240" cy="1142640"/>
          </a:xfrm>
        </p:spPr>
        <p:txBody>
          <a:bodyPr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7212" y="1143000"/>
            <a:ext cx="448459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800" b="1">
                <a:solidFill>
                  <a:schemeClr val="accent2">
                    <a:lumMod val="76000"/>
                  </a:schemeClr>
                </a:solidFill>
                <a:latin typeface="Aptos"/>
              </a:rPr>
              <a:t>EXTRAS</a:t>
            </a:r>
            <a:endParaRPr lang="en-US" sz="3200" b="1">
              <a:solidFill>
                <a:schemeClr val="accent2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7863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6F8FC"/>
                </a:solidFill>
                <a:latin typeface="Aptos"/>
              </a:rPr>
              <a:t>Going Beyond the
Core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01568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DABC0"/>
                </a:solidFill>
                <a:latin typeface="Aptos"/>
              </a:rPr>
              <a:t>Additional experiments: Transformer architecture, paragraph-aligned translation, and transfer learning.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617720"/>
            <a:ext cx="10698480" cy="960120"/>
          </a:xfrm>
          <a:prstGeom prst="roundRect">
            <a:avLst/>
          </a:prstGeom>
          <a:solidFill>
            <a:srgbClr val="182238"/>
          </a:solidFill>
          <a:ln w="11430">
            <a:solidFill>
              <a:srgbClr val="7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9103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0B1FF"/>
                </a:solidFill>
                <a:latin typeface="Aptos"/>
              </a:rPr>
              <a:t>TRANSFORMER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9103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2DAE7"/>
                </a:solidFill>
                <a:latin typeface="Aptos"/>
              </a:rPr>
              <a:t>PARAGRAPH-LEVEL MT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910328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BE2A5"/>
                </a:solidFill>
                <a:latin typeface="Aptos"/>
              </a:rPr>
              <a:t>TRANSFER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C0"/>
                </a:solidFill>
                <a:latin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81845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74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6CFF"/>
                </a:solidFill>
                <a:latin typeface="Aptos"/>
              </a:rPr>
              <a:t>EXTRAS • EXPERIMENT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078992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700" b="1" dirty="0">
                <a:solidFill>
                  <a:srgbClr val="F6F8FC"/>
                </a:solidFill>
                <a:latin typeface="Aptos"/>
              </a:rPr>
              <a:t>Transformer on </a:t>
            </a:r>
            <a:r>
              <a:rPr sz="2700" b="1" dirty="0" err="1">
                <a:solidFill>
                  <a:srgbClr val="F6F8FC"/>
                </a:solidFill>
                <a:latin typeface="Aptos"/>
              </a:rPr>
              <a:t>Tatoeba</a:t>
            </a:r>
            <a:r>
              <a:rPr lang="en-GB" sz="2700" b="1" dirty="0">
                <a:solidFill>
                  <a:srgbClr val="F6F8FC"/>
                </a:solidFill>
                <a:latin typeface="Aptos"/>
              </a:rPr>
              <a:t> Data Set</a:t>
            </a:r>
          </a:p>
          <a:p>
            <a:endParaRPr lang="en-GB" sz="27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2648" y="11704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DABC0"/>
                </a:solidFill>
                <a:latin typeface="Aptos"/>
              </a:rPr>
              <a:t>The same Tatoeba dataset was tested with a Transformer architecture and beam-search decoding.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743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E6CFF"/>
                </a:solidFill>
                <a:latin typeface="Aptos"/>
              </a:rPr>
              <a:t>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3657600" cy="3566160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40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14400" y="2084831"/>
            <a:ext cx="1188720" cy="310896"/>
          </a:xfrm>
          <a:prstGeom prst="roundRect">
            <a:avLst/>
          </a:prstGeom>
          <a:solidFill>
            <a:srgbClr val="40B1FF"/>
          </a:solidFill>
          <a:ln>
            <a:solidFill>
              <a:srgbClr val="40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093975"/>
            <a:ext cx="11887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6F8FC"/>
                </a:solidFill>
                <a:latin typeface="Aptos"/>
              </a:rPr>
              <a:t>TEST BLEU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70048"/>
            <a:ext cx="2377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5BE2A5"/>
                </a:solidFill>
                <a:latin typeface="Aptos"/>
              </a:rPr>
              <a:t>35.19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64992"/>
            <a:ext cx="2651760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>
                <a:solidFill>
                  <a:srgbClr val="F6F8FC"/>
                </a:solidFill>
                <a:latin typeface="Aptos"/>
              </a:rPr>
              <a:t>Beam search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4164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42DAE7"/>
                </a:solidFill>
                <a:latin typeface="Aptos"/>
              </a:rPr>
              <a:t>33.62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537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DABC0"/>
                </a:solidFill>
                <a:latin typeface="Aptos"/>
              </a:rPr>
              <a:t>Greedy decoding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3249" y="1783080"/>
            <a:ext cx="6903720" cy="3566160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30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21031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6F8FC"/>
                </a:solidFill>
                <a:latin typeface="Aptos"/>
              </a:rPr>
              <a:t>What changed?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697480"/>
            <a:ext cx="5897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Replaced the recurrent Seq2Seq architecture with a Transformer.</a:t>
            </a:r>
          </a:p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Evaluated both greedy decoding and beam search.</a:t>
            </a:r>
          </a:p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Beam search improved the test BLEU from 33.62 to 35.19.</a:t>
            </a:r>
          </a:p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This experiment shows the benefit of a stronger sequence model and decoding strategy.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88554" y="4805620"/>
            <a:ext cx="3383280" cy="310896"/>
          </a:xfrm>
          <a:prstGeom prst="roundRect">
            <a:avLst/>
          </a:prstGeom>
          <a:solidFill>
            <a:srgbClr val="5BE2A5"/>
          </a:solidFill>
          <a:ln>
            <a:solidFill>
              <a:srgbClr val="5B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1672" y="4833663"/>
            <a:ext cx="3383280" cy="253916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sz="1050" b="1">
                <a:solidFill>
                  <a:schemeClr val="accent4">
                    <a:lumMod val="76000"/>
                  </a:schemeClr>
                </a:solidFill>
                <a:latin typeface="Aptos"/>
              </a:rPr>
              <a:t>35.19 — HIGHEST TATOEBA RESULT</a:t>
            </a:r>
            <a:endParaRPr lang="en-US" sz="1050" b="1">
              <a:solidFill>
                <a:schemeClr val="accent4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C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743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7E6CFF"/>
                </a:solidFill>
                <a:latin typeface="Aptos"/>
              </a:rPr>
              <a:t>EXTRAS • EXPERIMENT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8FC"/>
                </a:solidFill>
                <a:latin typeface="Aptos"/>
              </a:rPr>
              <a:t>Paragraph-Aligned EN ↔ AR Translation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1704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DABC0"/>
                </a:solidFill>
                <a:latin typeface="Aptos"/>
              </a:rPr>
              <a:t>The goal was to move beyond isolated sentences and construct high-quality aligned paragraphs.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743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E6CFF"/>
                </a:solidFill>
                <a:latin typeface="Aptos"/>
              </a:rPr>
              <a:t>PARAGRAPH MT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755648"/>
            <a:ext cx="3703320" cy="4343400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30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68680" y="2029968"/>
            <a:ext cx="1828800" cy="310896"/>
          </a:xfrm>
          <a:prstGeom prst="roundRect">
            <a:avLst/>
          </a:prstGeom>
          <a:solidFill>
            <a:srgbClr val="42DAE7"/>
          </a:solidFill>
          <a:ln>
            <a:solidFill>
              <a:srgbClr val="42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39112"/>
            <a:ext cx="18288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6F8FC"/>
                </a:solidFill>
                <a:latin typeface="Aptos"/>
              </a:rPr>
              <a:t>DATASET PREPARATION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57860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6F8FC"/>
                </a:solidFill>
                <a:latin typeface="Aptos"/>
              </a:rPr>
              <a:t>UN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108960"/>
            <a:ext cx="2880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9DABC0"/>
                </a:solidFill>
                <a:latin typeface="Aptos"/>
              </a:defRPr>
            </a:pPr>
            <a:r>
              <a:t>•  Chosen to construct high-quality English–Arabic paragraphs.</a:t>
            </a:r>
          </a:p>
          <a:p>
            <a:pPr>
              <a:spcAft>
                <a:spcPts val="600"/>
              </a:spcAft>
              <a:defRPr sz="1350">
                <a:solidFill>
                  <a:srgbClr val="9DABC0"/>
                </a:solidFill>
                <a:latin typeface="Aptos"/>
              </a:defRPr>
            </a:pPr>
            <a:r>
              <a:t>•  Problem: the published dataset is not paragraph aligned.</a:t>
            </a:r>
          </a:p>
          <a:p>
            <a:pPr>
              <a:spcAft>
                <a:spcPts val="600"/>
              </a:spcAft>
              <a:defRPr sz="1350">
                <a:solidFill>
                  <a:srgbClr val="9DABC0"/>
                </a:solidFill>
                <a:latin typeface="Aptos"/>
              </a:defRPr>
            </a:pPr>
            <a:r>
              <a:t>•  A preprocessing step was required to reconstruct aligned paragraph pairs.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1091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DABC0"/>
                </a:solidFill>
                <a:latin typeface="Aptos"/>
              </a:rPr>
              <a:t>Sentence pairs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23160" y="5157216"/>
            <a:ext cx="548640" cy="0"/>
          </a:xfrm>
          <a:prstGeom prst="line">
            <a:avLst/>
          </a:prstGeom>
          <a:ln w="31750">
            <a:solidFill>
              <a:srgbClr val="7E6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63240" y="488289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42DAE7"/>
                </a:solidFill>
                <a:latin typeface="Aptos"/>
              </a:rPr>
              <a:t>Aligned
paragraphs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7485" y="1722031"/>
            <a:ext cx="7063292" cy="4982134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30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8541" y="1906703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C14F"/>
                </a:solidFill>
                <a:latin typeface="Aptos"/>
              </a:rPr>
              <a:t>Before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8542" y="4320181"/>
            <a:ext cx="2103120" cy="274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200" b="1">
                <a:solidFill>
                  <a:schemeClr val="accent5">
                    <a:lumMod val="76000"/>
                  </a:schemeClr>
                </a:solidFill>
                <a:latin typeface="Aptos"/>
              </a:rPr>
              <a:t>After processing</a:t>
            </a:r>
            <a:endParaRPr lang="en-US" sz="1200" b="1">
              <a:solidFill>
                <a:schemeClr val="accent5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86335" y="6259068"/>
            <a:ext cx="3931920" cy="310896"/>
          </a:xfrm>
          <a:prstGeom prst="roundRect">
            <a:avLst/>
          </a:prstGeom>
          <a:solidFill>
            <a:srgbClr val="7E6CFF"/>
          </a:solidFill>
          <a:ln>
            <a:solidFill>
              <a:srgbClr val="7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9600" y="6313035"/>
            <a:ext cx="39319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6F8FC"/>
                </a:solidFill>
                <a:latin typeface="Aptos"/>
              </a:rPr>
              <a:t>RAW PAIRS → STRUCTURED PARAGRAPH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C0"/>
                </a:solidFill>
                <a:latin typeface="Aptos"/>
              </a:rPr>
              <a:t>19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3425187-4F0A-5991-5382-A984EDBC0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324" y="4685046"/>
            <a:ext cx="6286502" cy="186941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A6DA547-41F6-CE8B-3411-A052A023E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203" y="2284602"/>
            <a:ext cx="6400800" cy="20422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74320"/>
            <a:ext cx="5486400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1">
                <a:solidFill>
                  <a:srgbClr val="7E6CFF"/>
                </a:solidFill>
                <a:latin typeface="Aptos"/>
              </a:rPr>
              <a:t>EXTRAS • EXPERIMENT </a:t>
            </a:r>
            <a:r>
              <a:rPr lang="en-GB" sz="1000" b="1">
                <a:solidFill>
                  <a:srgbClr val="7E6CFF"/>
                </a:solidFill>
                <a:latin typeface="Aptos"/>
              </a:rPr>
              <a:t>02</a:t>
            </a:r>
            <a:endParaRPr sz="1000" b="1">
              <a:solidFill>
                <a:srgbClr val="7E6C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6F8FC"/>
                </a:solidFill>
                <a:latin typeface="Aptos"/>
              </a:rPr>
              <a:t>Transfer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170432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9DABC0"/>
                </a:solidFill>
                <a:latin typeface="Aptos"/>
              </a:rPr>
              <a:t>The paragraph-level experiment was then strengthened using transfer learning.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7432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7E6CFF"/>
                </a:solidFill>
                <a:latin typeface="Aptos"/>
              </a:rPr>
              <a:t>TRANSFER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4572000" cy="3977639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5B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0120" y="2103120"/>
            <a:ext cx="1508760" cy="310896"/>
          </a:xfrm>
          <a:prstGeom prst="roundRect">
            <a:avLst/>
          </a:prstGeom>
          <a:solidFill>
            <a:srgbClr val="5BE2A5"/>
          </a:solidFill>
          <a:ln>
            <a:solidFill>
              <a:srgbClr val="5BE2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112263"/>
            <a:ext cx="150876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6F8FC"/>
                </a:solidFill>
                <a:latin typeface="Aptos"/>
              </a:rPr>
              <a:t>TEST SET BLEU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61488"/>
            <a:ext cx="3108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BE2A5"/>
                </a:solidFill>
                <a:latin typeface="Aptos"/>
              </a:rPr>
              <a:t>74.12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75887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6F8FC"/>
                </a:solidFill>
                <a:latin typeface="Aptos"/>
              </a:rPr>
              <a:t>Paragraph-aligned EN–AR translation</a:t>
            </a:r>
          </a:p>
        </p:txBody>
      </p:sp>
      <p:pic>
        <p:nvPicPr>
          <p:cNvPr id="17" name="Picture 16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26" y="4093643"/>
            <a:ext cx="3794760" cy="55634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486400" y="1783080"/>
            <a:ext cx="6035040" cy="3977639"/>
          </a:xfrm>
          <a:prstGeom prst="roundRect">
            <a:avLst/>
          </a:prstGeom>
          <a:solidFill>
            <a:srgbClr val="182238"/>
          </a:solidFill>
          <a:ln w="11430">
            <a:solidFill>
              <a:srgbClr val="7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21488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6F8FC"/>
                </a:solidFill>
                <a:latin typeface="Aptos"/>
              </a:rPr>
              <a:t>Why this is a strong extra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88920"/>
            <a:ext cx="5074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Moves the project from sentence-level translation toward paragraph-level translation.</a:t>
            </a:r>
          </a:p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Uses a separately prepared paragraph-aligned UN dataset.</a:t>
            </a:r>
          </a:p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Applies transfer learning instead of training the paragraph model entirely from scratch.</a:t>
            </a:r>
          </a:p>
          <a:p>
            <a:pPr>
              <a:spcAft>
                <a:spcPts val="600"/>
              </a:spcAft>
              <a:defRPr sz="1400">
                <a:solidFill>
                  <a:srgbClr val="9DABC0"/>
                </a:solidFill>
                <a:latin typeface="Aptos"/>
              </a:defRPr>
            </a:pPr>
            <a:r>
              <a:t>•  Achieved a test BLEU score of 74.12 in this experiment.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5166360"/>
            <a:ext cx="2560320" cy="310896"/>
          </a:xfrm>
          <a:prstGeom prst="roundRect">
            <a:avLst/>
          </a:prstGeom>
          <a:solidFill>
            <a:srgbClr val="7E6CFF"/>
          </a:solidFill>
          <a:ln>
            <a:solidFill>
              <a:srgbClr val="7E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06440" y="5175504"/>
            <a:ext cx="25603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6F8FC"/>
                </a:solidFill>
                <a:latin typeface="Aptos"/>
              </a:rPr>
              <a:t>EXPERIMENTAL EXTENSION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C0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29632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 Placeholder 5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74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E6CFF"/>
                </a:solidFill>
                <a:latin typeface="Aptos"/>
              </a:rPr>
              <a:t>PROJECT RESULTS • TRANSFER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"/>
            <a:ext cx="7955279" cy="5078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2700" b="1">
                <a:solidFill>
                  <a:srgbClr val="F6F8FC"/>
                </a:solidFill>
                <a:latin typeface="Aptos"/>
              </a:rPr>
              <a:t>Transfer Learning — </a:t>
            </a:r>
            <a:r>
              <a:rPr sz="2700" b="1">
                <a:solidFill>
                  <a:schemeClr val="accent6"/>
                </a:solidFill>
                <a:latin typeface="Aptos"/>
              </a:rPr>
              <a:t>Final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2743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7E6CFF"/>
                </a:solidFill>
                <a:latin typeface="Aptos"/>
              </a:rPr>
              <a:t>FINAL EXTRA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640" y="1701800"/>
            <a:ext cx="5643880" cy="4871720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30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195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2DAE7"/>
                </a:solidFill>
                <a:latin typeface="Aptos"/>
              </a:rPr>
              <a:t>ENGLISH → ARABIC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01080" y="1701800"/>
            <a:ext cx="5826760" cy="4881880"/>
          </a:xfrm>
          <a:prstGeom prst="roundRect">
            <a:avLst/>
          </a:prstGeom>
          <a:solidFill>
            <a:srgbClr val="121A2A"/>
          </a:solidFill>
          <a:ln w="11430">
            <a:solidFill>
              <a:srgbClr val="30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9578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BE2A5"/>
                </a:solidFill>
                <a:latin typeface="Aptos"/>
              </a:rPr>
              <a:t>ARABIC → ENGLISH</a:t>
            </a:r>
          </a:p>
        </p:txBody>
      </p:sp>
      <p:pic>
        <p:nvPicPr>
          <p:cNvPr id="19" name="Picture 18" descr="WhatsApp Image 2026-08-27 at 8.59.15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29" y="2404872"/>
            <a:ext cx="5020780" cy="3764280"/>
          </a:xfrm>
          <a:prstGeom prst="rect">
            <a:avLst/>
          </a:prstGeom>
        </p:spPr>
      </p:pic>
      <p:pic>
        <p:nvPicPr>
          <p:cNvPr id="20" name="Picture 19" descr="WhatsApp Image 2026-08-27 at 8.55.11 P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190" y="2293112"/>
            <a:ext cx="5260140" cy="3876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DABC0"/>
                </a:solidFill>
                <a:latin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92015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11079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6600" b="1">
                <a:solidFill>
                  <a:schemeClr val="accent2">
                    <a:lumMod val="76000"/>
                  </a:schemeClr>
                </a:solidFill>
                <a:latin typeface="Aptos"/>
              </a:rPr>
              <a:t>THE END</a:t>
            </a:r>
            <a:endParaRPr lang="en-US" sz="6600" b="1">
              <a:solidFill>
                <a:schemeClr val="accent2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556837" cy="110799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6600" b="1" i="1">
                <a:solidFill>
                  <a:schemeClr val="accent1"/>
                </a:solidFill>
                <a:latin typeface="Aptos"/>
              </a:rPr>
              <a:t>It was a long journey.</a:t>
            </a:r>
            <a:endParaRPr lang="en-US" sz="6600" b="1" i="1">
              <a:solidFill>
                <a:schemeClr val="accent1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902783" y="4243438"/>
            <a:ext cx="4793878" cy="982531"/>
          </a:xfrm>
          <a:prstGeom prst="roundRect">
            <a:avLst/>
          </a:prstGeom>
          <a:solidFill>
            <a:srgbClr val="182238"/>
          </a:solidFill>
          <a:ln w="11430">
            <a:solidFill>
              <a:srgbClr val="303F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41663" y="3773148"/>
            <a:ext cx="2398955" cy="7386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>
                <a:solidFill>
                  <a:schemeClr val="accent6">
                    <a:lumMod val="76000"/>
                  </a:schemeClr>
                </a:solidFill>
                <a:latin typeface="Aptos"/>
              </a:rPr>
              <a:t>ONE of Many</a:t>
            </a:r>
            <a:endParaRPr lang="en-US" sz="2400">
              <a:solidFill>
                <a:schemeClr val="accent6">
                  <a:lumMod val="76000"/>
                </a:schemeClr>
              </a:solidFill>
              <a:latin typeface="Aptos"/>
            </a:endParaRPr>
          </a:p>
          <a:p>
            <a:endParaRPr lang="en-US" b="1" dirty="0">
              <a:solidFill>
                <a:srgbClr val="F7C14F"/>
              </a:solidFill>
              <a:latin typeface="Aptos"/>
            </a:endParaRP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217" y="4406236"/>
            <a:ext cx="3624879" cy="6049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-497989" y="6445534"/>
            <a:ext cx="237744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600" b="1">
                <a:solidFill>
                  <a:schemeClr val="accent4">
                    <a:lumMod val="76000"/>
                  </a:schemeClr>
                </a:solidFill>
                <a:latin typeface="Aptos"/>
              </a:rPr>
              <a:t>Thank you</a:t>
            </a:r>
            <a:endParaRPr lang="en-US" sz="1600" b="1">
              <a:solidFill>
                <a:schemeClr val="accent4">
                  <a:lumMod val="76000"/>
                </a:schemeClr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9DABC0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0</Words>
  <Application>Microsoft Office PowerPoint</Application>
  <PresentationFormat>Widescreen</PresentationFormat>
  <Paragraphs>0</Paragraphs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>generated using python-pptx</dc:description>
  <cp:lastModifiedBy/>
  <cp:revision>125</cp:revision>
  <dcterms:created xsi:type="dcterms:W3CDTF">2013-01-27T09:14:16Z</dcterms:created>
  <dcterms:modified xsi:type="dcterms:W3CDTF">2026-08-27T18:16:52Z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